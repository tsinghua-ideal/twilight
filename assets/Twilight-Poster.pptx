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32918400" cy="21945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326532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653064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979596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306128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1632661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1959193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2285725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2612257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874"/>
    <a:srgbClr val="FFFFFF"/>
    <a:srgbClr val="7055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20" autoAdjust="0"/>
    <p:restoredTop sz="94694"/>
  </p:normalViewPr>
  <p:slideViewPr>
    <p:cSldViewPr snapToGrid="0" snapToObjects="1">
      <p:cViewPr varScale="1">
        <p:scale>
          <a:sx n="48" d="100"/>
          <a:sy n="48" d="100"/>
        </p:scale>
        <p:origin x="182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" name="Shape 2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2633155" latinLnBrk="0">
      <a:defRPr sz="3400">
        <a:latin typeface="+mn-lt"/>
        <a:ea typeface="+mn-ea"/>
        <a:cs typeface="+mn-cs"/>
        <a:sym typeface="Calibri"/>
      </a:defRPr>
    </a:lvl1pPr>
    <a:lvl2pPr indent="228600" defTabSz="2633155" latinLnBrk="0">
      <a:defRPr sz="3400">
        <a:latin typeface="+mn-lt"/>
        <a:ea typeface="+mn-ea"/>
        <a:cs typeface="+mn-cs"/>
        <a:sym typeface="Calibri"/>
      </a:defRPr>
    </a:lvl2pPr>
    <a:lvl3pPr indent="457200" defTabSz="2633155" latinLnBrk="0">
      <a:defRPr sz="3400">
        <a:latin typeface="+mn-lt"/>
        <a:ea typeface="+mn-ea"/>
        <a:cs typeface="+mn-cs"/>
        <a:sym typeface="Calibri"/>
      </a:defRPr>
    </a:lvl3pPr>
    <a:lvl4pPr indent="685800" defTabSz="2633155" latinLnBrk="0">
      <a:defRPr sz="3400">
        <a:latin typeface="+mn-lt"/>
        <a:ea typeface="+mn-ea"/>
        <a:cs typeface="+mn-cs"/>
        <a:sym typeface="Calibri"/>
      </a:defRPr>
    </a:lvl4pPr>
    <a:lvl5pPr indent="914400" defTabSz="2633155" latinLnBrk="0">
      <a:defRPr sz="3400">
        <a:latin typeface="+mn-lt"/>
        <a:ea typeface="+mn-ea"/>
        <a:cs typeface="+mn-cs"/>
        <a:sym typeface="Calibri"/>
      </a:defRPr>
    </a:lvl5pPr>
    <a:lvl6pPr indent="1143000" defTabSz="2633155" latinLnBrk="0">
      <a:defRPr sz="3400">
        <a:latin typeface="+mn-lt"/>
        <a:ea typeface="+mn-ea"/>
        <a:cs typeface="+mn-cs"/>
        <a:sym typeface="Calibri"/>
      </a:defRPr>
    </a:lvl6pPr>
    <a:lvl7pPr indent="1371600" defTabSz="2633155" latinLnBrk="0">
      <a:defRPr sz="3400">
        <a:latin typeface="+mn-lt"/>
        <a:ea typeface="+mn-ea"/>
        <a:cs typeface="+mn-cs"/>
        <a:sym typeface="Calibri"/>
      </a:defRPr>
    </a:lvl7pPr>
    <a:lvl8pPr indent="1600200" defTabSz="2633155" latinLnBrk="0">
      <a:defRPr sz="3400">
        <a:latin typeface="+mn-lt"/>
        <a:ea typeface="+mn-ea"/>
        <a:cs typeface="+mn-cs"/>
        <a:sym typeface="Calibri"/>
      </a:defRPr>
    </a:lvl8pPr>
    <a:lvl9pPr indent="1828800" defTabSz="2633155" latinLnBrk="0">
      <a:defRPr sz="34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857250" y="685800"/>
            <a:ext cx="51435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64139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B 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B AI Research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1645920" y="294640"/>
            <a:ext cx="29626561" cy="482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645920" y="5120640"/>
            <a:ext cx="29626561" cy="16824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5910559" y="19756119"/>
            <a:ext cx="7680961" cy="1168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/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med"/>
  <p:txStyles>
    <p:titleStyle>
      <a:lvl1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731556" marR="0" indent="-731556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2319804" marR="0" indent="-856691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3943547" marR="0" indent="-1017321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5531594" marR="0" indent="-1142255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6994707" marR="0" indent="-1142255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8457820" marR="0" indent="-1142255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9920933" marR="0" indent="-1142255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11384047" marR="0" indent="-1142255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12847160" marR="0" indent="-1142255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326532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653064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979596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306128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1632661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1959193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2285725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2612257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0.png"/><Relationship Id="rId18" Type="http://schemas.openxmlformats.org/officeDocument/2006/relationships/image" Target="../media/image15.png"/><Relationship Id="rId26" Type="http://schemas.openxmlformats.org/officeDocument/2006/relationships/image" Target="../media/image23.png"/><Relationship Id="rId3" Type="http://schemas.openxmlformats.org/officeDocument/2006/relationships/image" Target="../media/image1.png"/><Relationship Id="rId21" Type="http://schemas.openxmlformats.org/officeDocument/2006/relationships/image" Target="../media/image18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5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3.png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hyperlink" Target="https://github.com/tsinghua-ideal/Twilight" TargetMode="External"/><Relationship Id="rId24" Type="http://schemas.openxmlformats.org/officeDocument/2006/relationships/image" Target="../media/image21.png"/><Relationship Id="rId5" Type="http://schemas.openxmlformats.org/officeDocument/2006/relationships/image" Target="../media/image3.png"/><Relationship Id="rId15" Type="http://schemas.openxmlformats.org/officeDocument/2006/relationships/image" Target="../media/image12.png"/><Relationship Id="rId23" Type="http://schemas.openxmlformats.org/officeDocument/2006/relationships/image" Target="../media/image20.png"/><Relationship Id="rId10" Type="http://schemas.openxmlformats.org/officeDocument/2006/relationships/image" Target="../media/image8.jpg"/><Relationship Id="rId19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7.jpg"/><Relationship Id="rId14" Type="http://schemas.openxmlformats.org/officeDocument/2006/relationships/image" Target="../media/image11.png"/><Relationship Id="rId22" Type="http://schemas.openxmlformats.org/officeDocument/2006/relationships/image" Target="../media/image19.png"/><Relationship Id="rId27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35"/>
              <p:cNvSpPr txBox="1"/>
              <p:nvPr/>
            </p:nvSpPr>
            <p:spPr>
              <a:xfrm>
                <a:off x="8823996" y="335208"/>
                <a:ext cx="12646477" cy="178510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square" lIns="45719" rIns="45719">
                <a:spAutoFit/>
              </a:bodyPr>
              <a:lstStyle>
                <a:lvl1pPr>
                  <a:defRPr sz="5500"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r>
                  <a:rPr lang="en-US" b="1" dirty="0">
                    <a:solidFill>
                      <a:srgbClr val="660874"/>
                    </a:solidFill>
                  </a:rPr>
                  <a:t>Twilight: Adaptive Attention Sparsity with Hierarchical Top-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660874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b="1" i="1" dirty="0" smtClean="0">
                        <a:solidFill>
                          <a:srgbClr val="660874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>
                    <a:solidFill>
                      <a:srgbClr val="660874"/>
                    </a:solidFill>
                  </a:rPr>
                  <a:t>Pruning</a:t>
                </a:r>
              </a:p>
            </p:txBody>
          </p:sp>
        </mc:Choice>
        <mc:Fallback xmlns="">
          <p:sp>
            <p:nvSpPr>
              <p:cNvPr id="30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3996" y="335208"/>
                <a:ext cx="12646477" cy="1785104"/>
              </a:xfrm>
              <a:prstGeom prst="rect">
                <a:avLst/>
              </a:prstGeom>
              <a:blipFill>
                <a:blip r:embed="rId3"/>
                <a:stretch>
                  <a:fillRect l="-2989" t="-9898" r="-1977" b="-20137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8"/>
          <p:cNvSpPr txBox="1"/>
          <p:nvPr/>
        </p:nvSpPr>
        <p:spPr>
          <a:xfrm>
            <a:off x="986246" y="3580560"/>
            <a:ext cx="9064534" cy="615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3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altLang="zh-CN" b="1" dirty="0">
                <a:solidFill>
                  <a:srgbClr val="FFFFFF"/>
                </a:solidFill>
              </a:rPr>
              <a:t>Introduction</a:t>
            </a:r>
            <a:endParaRPr b="1" dirty="0">
              <a:solidFill>
                <a:srgbClr val="FFFF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9"/>
              <p:cNvSpPr txBox="1"/>
              <p:nvPr/>
            </p:nvSpPr>
            <p:spPr>
              <a:xfrm>
                <a:off x="1050672" y="4326744"/>
                <a:ext cx="9064534" cy="359713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45719" rIns="45719">
                <a:spAutoFit/>
              </a:bodyPr>
              <a:lstStyle>
                <a:lvl1pPr>
                  <a:lnSpc>
                    <a:spcPct val="120000"/>
                  </a:lnSpc>
                  <a:defRPr sz="2100">
                    <a:solidFill>
                      <a:srgbClr val="344854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solidFill>
                      <a:srgbClr val="660874"/>
                    </a:solidFill>
                  </a:rPr>
                  <a:t>Top-</a:t>
                </a:r>
                <a:r>
                  <a:rPr lang="zh-CN" altLang="en-US" sz="2400" dirty="0">
                    <a:solidFill>
                      <a:srgbClr val="660874"/>
                    </a:solidFill>
                  </a:rPr>
                  <a:t>𝑘 </a:t>
                </a:r>
                <a:r>
                  <a:rPr lang="en-US" altLang="zh-CN" sz="2400" dirty="0">
                    <a:solidFill>
                      <a:srgbClr val="660874"/>
                    </a:solidFill>
                  </a:rPr>
                  <a:t>sparse attention </a:t>
                </a:r>
                <a:r>
                  <a:rPr lang="en-US" altLang="zh-CN" sz="2400" dirty="0"/>
                  <a:t>accelerates long context LLM inference by saving memory loading costs.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However, </a:t>
                </a:r>
                <a:r>
                  <a:rPr lang="en-US" altLang="zh-CN" sz="2400" dirty="0">
                    <a:solidFill>
                      <a:srgbClr val="660874"/>
                    </a:solidFill>
                  </a:rPr>
                  <a:t>fixed budget 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can lead to over-selection or under-selection.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solidFill>
                      <a:schemeClr val="tx1"/>
                    </a:solidFill>
                  </a:rPr>
                  <a:t>We propose </a:t>
                </a:r>
                <a:r>
                  <a:rPr lang="en-US" altLang="zh-CN" sz="2400" b="1" dirty="0">
                    <a:solidFill>
                      <a:schemeClr val="tx1"/>
                    </a:solidFill>
                  </a:rPr>
                  <a:t>Twilight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, a composable optimizer to accelerate </a:t>
                </a:r>
                <a:r>
                  <a:rPr lang="en-US" altLang="zh-CN" sz="2400" dirty="0">
                    <a:solidFill>
                      <a:srgbClr val="660874"/>
                    </a:solidFill>
                  </a:rPr>
                  <a:t>any top-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660874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sz="2400" dirty="0">
                    <a:solidFill>
                      <a:srgbClr val="660874"/>
                    </a:solidFill>
                  </a:rPr>
                  <a:t> sparse attention 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through hierarchical </a:t>
                </a:r>
                <a:r>
                  <a:rPr lang="en-US" altLang="zh-CN" sz="2400" dirty="0">
                    <a:solidFill>
                      <a:srgbClr val="660874"/>
                    </a:solidFill>
                  </a:rPr>
                  <a:t>top-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solidFill>
                          <a:srgbClr val="660874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zh-CN" sz="2400" dirty="0">
                    <a:solidFill>
                      <a:srgbClr val="660874"/>
                    </a:solidFill>
                  </a:rPr>
                  <a:t> 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pruning, making them efficient and budget-adaptive.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672" y="4326744"/>
                <a:ext cx="9064534" cy="3597139"/>
              </a:xfrm>
              <a:prstGeom prst="rect">
                <a:avLst/>
              </a:prstGeom>
              <a:blipFill>
                <a:blip r:embed="rId4"/>
                <a:stretch>
                  <a:fillRect l="-1412" t="-508" r="-336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37"/>
          <p:cNvSpPr txBox="1"/>
          <p:nvPr/>
        </p:nvSpPr>
        <p:spPr>
          <a:xfrm>
            <a:off x="4142919" y="2207788"/>
            <a:ext cx="17077193" cy="494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>
              <a:lnSpc>
                <a:spcPct val="120000"/>
              </a:lnSpc>
              <a:spcBef>
                <a:spcPts val="1000"/>
              </a:spcBef>
              <a:defRPr sz="2100"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dirty="0"/>
              <a:t>Chaofan Lin, Jiaming Tang, </a:t>
            </a:r>
            <a:r>
              <a:rPr lang="en-US" sz="2400" b="1" dirty="0" err="1"/>
              <a:t>Shuo</a:t>
            </a:r>
            <a:r>
              <a:rPr lang="en-US" sz="2400" b="1" dirty="0"/>
              <a:t> Yang, </a:t>
            </a:r>
            <a:r>
              <a:rPr lang="en-US" sz="2400" b="1" dirty="0" err="1"/>
              <a:t>Hanshuo</a:t>
            </a:r>
            <a:r>
              <a:rPr lang="en-US" sz="2400" b="1" dirty="0"/>
              <a:t> Wang, Tian Tang, </a:t>
            </a:r>
            <a:r>
              <a:rPr lang="en-US" sz="2400" b="1" dirty="0" err="1"/>
              <a:t>Boyu</a:t>
            </a:r>
            <a:r>
              <a:rPr lang="en-US" sz="2400" b="1" dirty="0"/>
              <a:t> Tian, Ion </a:t>
            </a:r>
            <a:r>
              <a:rPr lang="en-US" sz="2400" b="1" dirty="0" err="1"/>
              <a:t>Stoica</a:t>
            </a:r>
            <a:r>
              <a:rPr lang="en-US" sz="2400" b="1" dirty="0"/>
              <a:t>, Song Han, Mingyu Gao</a:t>
            </a:r>
          </a:p>
        </p:txBody>
      </p:sp>
      <p:pic>
        <p:nvPicPr>
          <p:cNvPr id="54" name="neurips_logo.pdf" descr="neurips_logo.pd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30243" y="311970"/>
            <a:ext cx="4018537" cy="1808342"/>
          </a:xfrm>
          <a:prstGeom prst="rect">
            <a:avLst/>
          </a:prstGeom>
          <a:ln w="12700">
            <a:miter lim="400000"/>
          </a:ln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820B8E35-315F-7458-AA20-5D4FB5F1520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6304" t="14053" r="8254" b="37180"/>
          <a:stretch/>
        </p:blipFill>
        <p:spPr>
          <a:xfrm>
            <a:off x="6905530" y="555652"/>
            <a:ext cx="1503805" cy="1344216"/>
          </a:xfrm>
          <a:prstGeom prst="rect">
            <a:avLst/>
          </a:prstGeom>
        </p:spPr>
      </p:pic>
      <p:pic>
        <p:nvPicPr>
          <p:cNvPr id="5" name="图片 4" descr="图标">
            <a:extLst>
              <a:ext uri="{FF2B5EF4-FFF2-40B4-BE49-F238E27FC236}">
                <a16:creationId xmlns:a16="http://schemas.microsoft.com/office/drawing/2014/main" id="{67F751CE-45BB-C88D-0B2A-A10BCBDF5C8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24235" b="23585"/>
          <a:stretch/>
        </p:blipFill>
        <p:spPr>
          <a:xfrm>
            <a:off x="24097793" y="611641"/>
            <a:ext cx="2235273" cy="1166365"/>
          </a:xfrm>
          <a:prstGeom prst="rect">
            <a:avLst/>
          </a:prstGeom>
        </p:spPr>
      </p:pic>
      <p:pic>
        <p:nvPicPr>
          <p:cNvPr id="6" name="图片 5" descr="图片包含 游戏机, 赌场, 房间, 盘子&#10;&#10;AI 生成的内容可能不正确。">
            <a:extLst>
              <a:ext uri="{FF2B5EF4-FFF2-40B4-BE49-F238E27FC236}">
                <a16:creationId xmlns:a16="http://schemas.microsoft.com/office/drawing/2014/main" id="{35BA40EC-544D-5F57-D31A-BBCF3EB031A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333066" y="294026"/>
            <a:ext cx="1781352" cy="1781352"/>
          </a:xfrm>
          <a:prstGeom prst="rect">
            <a:avLst/>
          </a:prstGeom>
        </p:spPr>
      </p:pic>
      <p:pic>
        <p:nvPicPr>
          <p:cNvPr id="7" name="图片 6" descr="图片包含 文本&#10;&#10;AI 生成的内容可能不正确。">
            <a:extLst>
              <a:ext uri="{FF2B5EF4-FFF2-40B4-BE49-F238E27FC236}">
                <a16:creationId xmlns:a16="http://schemas.microsoft.com/office/drawing/2014/main" id="{1F422900-84B8-A29D-90F5-8B5B2116A06D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5841" t="25347" r="18874" b="22889"/>
          <a:stretch/>
        </p:blipFill>
        <p:spPr>
          <a:xfrm>
            <a:off x="343630" y="385026"/>
            <a:ext cx="4314254" cy="1465990"/>
          </a:xfrm>
          <a:prstGeom prst="rect">
            <a:avLst/>
          </a:prstGeom>
        </p:spPr>
      </p:pic>
      <p:sp>
        <p:nvSpPr>
          <p:cNvPr id="8" name="副标题 10">
            <a:extLst>
              <a:ext uri="{FF2B5EF4-FFF2-40B4-BE49-F238E27FC236}">
                <a16:creationId xmlns:a16="http://schemas.microsoft.com/office/drawing/2014/main" id="{7E3F436E-03AE-D951-7182-1D1201A57ED3}"/>
              </a:ext>
            </a:extLst>
          </p:cNvPr>
          <p:cNvSpPr txBox="1">
            <a:spLocks/>
          </p:cNvSpPr>
          <p:nvPr/>
        </p:nvSpPr>
        <p:spPr>
          <a:xfrm>
            <a:off x="21220112" y="2236500"/>
            <a:ext cx="5513253" cy="5180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i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Tsinghua University, MIT, UC Berkeley</a:t>
            </a:r>
            <a:endParaRPr lang="zh-CN" altLang="en-US" i="1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9" name="图片 8" descr="卡通人物&#10;&#10;AI 生成的内容可能不正确。">
            <a:extLst>
              <a:ext uri="{FF2B5EF4-FFF2-40B4-BE49-F238E27FC236}">
                <a16:creationId xmlns:a16="http://schemas.microsoft.com/office/drawing/2014/main" id="{9DAE87C1-24C9-FE7F-1FBA-30B9166B118C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32968" t="12434" r="35017" b="13934"/>
          <a:stretch/>
        </p:blipFill>
        <p:spPr>
          <a:xfrm>
            <a:off x="21986298" y="342345"/>
            <a:ext cx="1781351" cy="1755822"/>
          </a:xfrm>
          <a:prstGeom prst="rect">
            <a:avLst/>
          </a:prstGeom>
        </p:spPr>
      </p:pic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9F62AAE3-CDB0-9269-08C6-75D181FD5A1D}"/>
              </a:ext>
            </a:extLst>
          </p:cNvPr>
          <p:cNvCxnSpPr/>
          <p:nvPr/>
        </p:nvCxnSpPr>
        <p:spPr>
          <a:xfrm>
            <a:off x="0" y="2994991"/>
            <a:ext cx="32918400" cy="0"/>
          </a:xfrm>
          <a:prstGeom prst="line">
            <a:avLst/>
          </a:prstGeom>
          <a:noFill/>
          <a:ln w="38100" cap="flat">
            <a:solidFill>
              <a:srgbClr val="660874"/>
            </a:solidFill>
            <a:prstDash val="sysDash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页脚占位符 4">
                <a:extLst>
                  <a:ext uri="{FF2B5EF4-FFF2-40B4-BE49-F238E27FC236}">
                    <a16:creationId xmlns:a16="http://schemas.microsoft.com/office/drawing/2014/main" id="{C1201F30-E941-7416-75B9-F8BEA353508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21292842"/>
                <a:ext cx="32918400" cy="652758"/>
              </a:xfrm>
              <a:prstGeom prst="rect">
                <a:avLst/>
              </a:prstGeom>
              <a:solidFill>
                <a:srgbClr val="6C367D"/>
              </a:solidFill>
            </p:spPr>
            <p:txBody>
              <a:bodyPr/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326532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200" b="1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Calibri"/>
                  </a:defRPr>
                </a:lvl1pPr>
                <a:lvl2pPr marL="0" marR="0" indent="326532" algn="l" defTabSz="326532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2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Calibri"/>
                  </a:defRPr>
                </a:lvl2pPr>
                <a:lvl3pPr marL="0" marR="0" indent="653064" algn="l" defTabSz="326532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2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Calibri"/>
                  </a:defRPr>
                </a:lvl3pPr>
                <a:lvl4pPr marL="0" marR="0" indent="979596" algn="l" defTabSz="326532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2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Calibri"/>
                  </a:defRPr>
                </a:lvl4pPr>
                <a:lvl5pPr marL="0" marR="0" indent="1306128" algn="l" defTabSz="326532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2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Calibri"/>
                  </a:defRPr>
                </a:lvl5pPr>
                <a:lvl6pPr marL="0" marR="0" indent="1632661" algn="l" defTabSz="326532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2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Calibri"/>
                  </a:defRPr>
                </a:lvl6pPr>
                <a:lvl7pPr marL="0" marR="0" indent="1959193" algn="l" defTabSz="326532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2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Calibri"/>
                  </a:defRPr>
                </a:lvl7pPr>
                <a:lvl8pPr marL="0" marR="0" indent="2285725" algn="l" defTabSz="326532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2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Calibri"/>
                  </a:defRPr>
                </a:lvl8pPr>
                <a:lvl9pPr marL="0" marR="0" indent="2612257" algn="l" defTabSz="326532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2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Calibri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kumimoji="1" lang="en-US" altLang="zh-CN" sz="2400" dirty="0"/>
                  <a:t>Twilight: Adaptive Attention Sparsity with Hierarchical Top-</a:t>
                </a:r>
                <a14:m>
                  <m:oMath xmlns:m="http://schemas.openxmlformats.org/officeDocument/2006/math">
                    <m:r>
                      <a:rPr kumimoji="1" lang="en-US" altLang="zh-CN" sz="2400" i="1" smtClean="0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kumimoji="1" lang="en-US" altLang="zh-CN" sz="2400" dirty="0"/>
                  <a:t> Pruning (</a:t>
                </a:r>
                <a:r>
                  <a:rPr kumimoji="1" lang="en-US" altLang="zh-CN" sz="2400" dirty="0" err="1"/>
                  <a:t>NeurIPS</a:t>
                </a:r>
                <a:r>
                  <a:rPr kumimoji="1" lang="en-US" altLang="zh-CN" sz="2400" dirty="0"/>
                  <a:t> 2025)                                               </a:t>
                </a:r>
                <a:r>
                  <a:rPr kumimoji="1" lang="en-US" altLang="zh-CN" sz="2400" dirty="0">
                    <a:hlinkClick r:id="rId11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https://github.com/tsinghua-ideal/Twilight</a:t>
                </a:r>
                <a:r>
                  <a:rPr kumimoji="1" lang="en-US" altLang="zh-CN" sz="2400" dirty="0"/>
                  <a:t>                                             lcf24@mails.tsinghua.edu.cn                              </a:t>
                </a:r>
              </a:p>
            </p:txBody>
          </p:sp>
        </mc:Choice>
        <mc:Fallback xmlns="">
          <p:sp>
            <p:nvSpPr>
              <p:cNvPr id="12" name="页脚占位符 4">
                <a:extLst>
                  <a:ext uri="{FF2B5EF4-FFF2-40B4-BE49-F238E27FC236}">
                    <a16:creationId xmlns:a16="http://schemas.microsoft.com/office/drawing/2014/main" id="{C1201F30-E941-7416-75B9-F8BEA35350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1292842"/>
                <a:ext cx="32918400" cy="652758"/>
              </a:xfrm>
              <a:prstGeom prst="rect">
                <a:avLst/>
              </a:prstGeom>
              <a:blipFill>
                <a:blip r:embed="rId12"/>
                <a:stretch>
                  <a:fillRect l="-278" r="-7852" b="-102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38">
                <a:extLst>
                  <a:ext uri="{FF2B5EF4-FFF2-40B4-BE49-F238E27FC236}">
                    <a16:creationId xmlns:a16="http://schemas.microsoft.com/office/drawing/2014/main" id="{42EECD52-B02C-F4E5-8C58-0205BF8D5856}"/>
                  </a:ext>
                </a:extLst>
              </p:cNvPr>
              <p:cNvSpPr txBox="1"/>
              <p:nvPr/>
            </p:nvSpPr>
            <p:spPr>
              <a:xfrm>
                <a:off x="986246" y="10890343"/>
                <a:ext cx="9064534" cy="1138773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45719" rIns="45719">
                <a:spAutoFit/>
              </a:bodyPr>
              <a:lstStyle>
                <a:lvl1pPr>
                  <a:defRPr sz="3400"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r>
                  <a:rPr lang="en-US" altLang="zh-CN" b="1" dirty="0">
                    <a:solidFill>
                      <a:srgbClr val="660874"/>
                    </a:solidFill>
                  </a:rPr>
                  <a:t>Top-</a:t>
                </a:r>
                <a14:m>
                  <m:oMath xmlns:m="http://schemas.openxmlformats.org/officeDocument/2006/math">
                    <m:r>
                      <a:rPr lang="zh-CN" altLang="en-US" b="1" i="1" smtClean="0">
                        <a:solidFill>
                          <a:srgbClr val="660874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b="1" dirty="0">
                    <a:solidFill>
                      <a:srgbClr val="660874"/>
                    </a:solidFill>
                  </a:rPr>
                  <a:t> Sparse Attention for Long Context Large Language Model Inference</a:t>
                </a:r>
              </a:p>
            </p:txBody>
          </p:sp>
        </mc:Choice>
        <mc:Fallback xmlns="">
          <p:sp>
            <p:nvSpPr>
              <p:cNvPr id="13" name="TextBox 38">
                <a:extLst>
                  <a:ext uri="{FF2B5EF4-FFF2-40B4-BE49-F238E27FC236}">
                    <a16:creationId xmlns:a16="http://schemas.microsoft.com/office/drawing/2014/main" id="{42EECD52-B02C-F4E5-8C58-0205BF8D58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246" y="10890343"/>
                <a:ext cx="9064534" cy="1138773"/>
              </a:xfrm>
              <a:prstGeom prst="rect">
                <a:avLst/>
              </a:prstGeom>
              <a:blipFill>
                <a:blip r:embed="rId13"/>
                <a:stretch>
                  <a:fillRect l="-2421" t="-7487" b="-18182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39">
            <a:extLst>
              <a:ext uri="{FF2B5EF4-FFF2-40B4-BE49-F238E27FC236}">
                <a16:creationId xmlns:a16="http://schemas.microsoft.com/office/drawing/2014/main" id="{888955FD-AC61-5CDF-F4D0-D583BF0734AE}"/>
              </a:ext>
            </a:extLst>
          </p:cNvPr>
          <p:cNvSpPr txBox="1"/>
          <p:nvPr/>
        </p:nvSpPr>
        <p:spPr>
          <a:xfrm>
            <a:off x="986246" y="12123118"/>
            <a:ext cx="9288054" cy="9379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120000"/>
              </a:lnSpc>
              <a:defRPr sz="2100">
                <a:solidFill>
                  <a:srgbClr val="344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For long context LLM inference, </a:t>
            </a:r>
            <a:r>
              <a:rPr lang="en-US" sz="2400" dirty="0">
                <a:solidFill>
                  <a:schemeClr val="tx1"/>
                </a:solidFill>
              </a:rPr>
              <a:t>attention</a:t>
            </a:r>
            <a:r>
              <a:rPr lang="en-US" sz="2400" dirty="0">
                <a:solidFill>
                  <a:srgbClr val="705578"/>
                </a:solidFill>
              </a:rPr>
              <a:t> </a:t>
            </a:r>
            <a:r>
              <a:rPr lang="en-US" sz="2400" dirty="0"/>
              <a:t>dominates the latency. </a:t>
            </a:r>
            <a:r>
              <a:rPr lang="en-US" altLang="zh-CN" sz="2400" dirty="0">
                <a:solidFill>
                  <a:srgbClr val="660874"/>
                </a:solidFill>
              </a:rPr>
              <a:t>Top-</a:t>
            </a:r>
            <a:r>
              <a:rPr lang="zh-CN" altLang="en-US" sz="2400" dirty="0">
                <a:solidFill>
                  <a:srgbClr val="660874"/>
                </a:solidFill>
              </a:rPr>
              <a:t>𝑘 </a:t>
            </a:r>
            <a:r>
              <a:rPr lang="en-US" altLang="zh-CN" sz="2400" dirty="0">
                <a:solidFill>
                  <a:srgbClr val="660874"/>
                </a:solidFill>
              </a:rPr>
              <a:t>sparse attention </a:t>
            </a:r>
            <a:r>
              <a:rPr lang="en-US" altLang="zh-CN" sz="2400" dirty="0"/>
              <a:t>is proposed to save memory loading cost.</a:t>
            </a:r>
            <a:endParaRPr lang="en-US" sz="2400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5FD817F3-FE19-5D03-892C-FDB66799931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8460" y="7775490"/>
            <a:ext cx="10348958" cy="2719433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2AE55290-C700-D4DD-1D04-E72AADC7FD7B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r="6214"/>
          <a:stretch/>
        </p:blipFill>
        <p:spPr>
          <a:xfrm>
            <a:off x="1220795" y="13350666"/>
            <a:ext cx="10103286" cy="150051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39">
                <a:extLst>
                  <a:ext uri="{FF2B5EF4-FFF2-40B4-BE49-F238E27FC236}">
                    <a16:creationId xmlns:a16="http://schemas.microsoft.com/office/drawing/2014/main" id="{36BFB35E-BB4C-172C-AB0C-DD90019643D8}"/>
                  </a:ext>
                </a:extLst>
              </p:cNvPr>
              <p:cNvSpPr txBox="1"/>
              <p:nvPr/>
            </p:nvSpPr>
            <p:spPr>
              <a:xfrm>
                <a:off x="976265" y="15100606"/>
                <a:ext cx="9064534" cy="1381147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45719" rIns="45719">
                <a:spAutoFit/>
              </a:bodyPr>
              <a:lstStyle>
                <a:lvl1pPr>
                  <a:lnSpc>
                    <a:spcPct val="120000"/>
                  </a:lnSpc>
                  <a:defRPr sz="2100">
                    <a:solidFill>
                      <a:srgbClr val="344854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However, the best budget (</a:t>
                </a:r>
                <a:r>
                  <a:rPr lang="en-US" altLang="zh-CN" sz="2400" dirty="0" err="1"/>
                  <a:t>a.k.a</a:t>
                </a:r>
                <a:r>
                  <a:rPr lang="en-US" altLang="zh-CN" sz="2400" dirty="0"/>
                  <a:t>,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sz="2400" dirty="0"/>
                  <a:t>) choices are </a:t>
                </a:r>
                <a:r>
                  <a:rPr lang="en-US" altLang="zh-CN" sz="2400" dirty="0">
                    <a:solidFill>
                      <a:srgbClr val="660874"/>
                    </a:solidFill>
                  </a:rPr>
                  <a:t>dynamic</a:t>
                </a:r>
                <a:r>
                  <a:rPr lang="en-US" altLang="zh-CN" sz="2400" dirty="0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T</a:t>
                </a:r>
                <a:r>
                  <a:rPr lang="en-US" sz="2400" dirty="0"/>
                  <a:t>he main challenge of top-𝑘 sparse attention is to find </a:t>
                </a:r>
                <a:r>
                  <a:rPr lang="en-US" sz="2400" dirty="0">
                    <a:solidFill>
                      <a:srgbClr val="660874"/>
                    </a:solidFill>
                  </a:rPr>
                  <a:t>a</a:t>
                </a:r>
                <a:r>
                  <a:rPr lang="en-US" sz="2400" dirty="0">
                    <a:solidFill>
                      <a:srgbClr val="705578"/>
                    </a:solidFill>
                  </a:rPr>
                  <a:t> </a:t>
                </a:r>
                <a:r>
                  <a:rPr lang="en-US" sz="2400" dirty="0">
                    <a:solidFill>
                      <a:srgbClr val="660874"/>
                    </a:solidFill>
                  </a:rPr>
                  <a:t>universally applicable budget </a:t>
                </a:r>
                <a:r>
                  <a:rPr lang="en-US" sz="2400" dirty="0"/>
                  <a:t>to all scenarios.</a:t>
                </a:r>
              </a:p>
            </p:txBody>
          </p:sp>
        </mc:Choice>
        <mc:Fallback>
          <p:sp>
            <p:nvSpPr>
              <p:cNvPr id="21" name="TextBox 39">
                <a:extLst>
                  <a:ext uri="{FF2B5EF4-FFF2-40B4-BE49-F238E27FC236}">
                    <a16:creationId xmlns:a16="http://schemas.microsoft.com/office/drawing/2014/main" id="{36BFB35E-BB4C-172C-AB0C-DD90019643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265" y="15100606"/>
                <a:ext cx="9064534" cy="1381147"/>
              </a:xfrm>
              <a:prstGeom prst="rect">
                <a:avLst/>
              </a:prstGeom>
              <a:blipFill>
                <a:blip r:embed="rId16"/>
                <a:stretch>
                  <a:fillRect l="-1412" t="-881" b="-9251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图片 21">
            <a:extLst>
              <a:ext uri="{FF2B5EF4-FFF2-40B4-BE49-F238E27FC236}">
                <a16:creationId xmlns:a16="http://schemas.microsoft.com/office/drawing/2014/main" id="{DCE16248-60D7-CA15-B5DF-E4C0F8823EF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14727" y="17067037"/>
            <a:ext cx="5042691" cy="2848439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55221AEE-2C88-AF70-1C94-9EE8ECD237B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28861" y="17067037"/>
            <a:ext cx="5192626" cy="2910541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F6D8A6D5-4662-B409-F535-E21037F05F48}"/>
              </a:ext>
            </a:extLst>
          </p:cNvPr>
          <p:cNvSpPr txBox="1"/>
          <p:nvPr/>
        </p:nvSpPr>
        <p:spPr>
          <a:xfrm>
            <a:off x="1467999" y="20245892"/>
            <a:ext cx="8229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The best budget choices vary dynamically across different levels.</a:t>
            </a:r>
            <a:endParaRPr kumimoji="1" lang="zh-CN" altLang="en-US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6" name="TextBox 38">
            <a:extLst>
              <a:ext uri="{FF2B5EF4-FFF2-40B4-BE49-F238E27FC236}">
                <a16:creationId xmlns:a16="http://schemas.microsoft.com/office/drawing/2014/main" id="{E9D14B71-09D6-945B-3100-99CF3B84D5D6}"/>
              </a:ext>
            </a:extLst>
          </p:cNvPr>
          <p:cNvSpPr txBox="1"/>
          <p:nvPr/>
        </p:nvSpPr>
        <p:spPr>
          <a:xfrm>
            <a:off x="11635448" y="3576378"/>
            <a:ext cx="9064534" cy="11387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3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altLang="zh-CN" b="1" dirty="0">
                <a:solidFill>
                  <a:srgbClr val="660874"/>
                </a:solidFill>
              </a:rPr>
              <a:t>Bringing Top-</a:t>
            </a:r>
            <a:r>
              <a:rPr lang="zh-CN" altLang="en-US" b="1" dirty="0">
                <a:solidFill>
                  <a:srgbClr val="660874"/>
                </a:solidFill>
              </a:rPr>
              <a:t>𝒑 </a:t>
            </a:r>
            <a:r>
              <a:rPr lang="en-US" altLang="zh-CN" b="1" dirty="0">
                <a:solidFill>
                  <a:srgbClr val="660874"/>
                </a:solidFill>
              </a:rPr>
              <a:t>Sampling to Sparse Attention</a:t>
            </a:r>
            <a:endParaRPr b="1" dirty="0">
              <a:solidFill>
                <a:srgbClr val="660874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39">
                <a:extLst>
                  <a:ext uri="{FF2B5EF4-FFF2-40B4-BE49-F238E27FC236}">
                    <a16:creationId xmlns:a16="http://schemas.microsoft.com/office/drawing/2014/main" id="{87848C82-508F-90CF-E0B2-E7B3C0B35C2B}"/>
                  </a:ext>
                </a:extLst>
              </p:cNvPr>
              <p:cNvSpPr txBox="1"/>
              <p:nvPr/>
            </p:nvSpPr>
            <p:spPr>
              <a:xfrm>
                <a:off x="11635448" y="4790467"/>
                <a:ext cx="9064534" cy="1824346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45719" rIns="45719">
                <a:spAutoFit/>
              </a:bodyPr>
              <a:lstStyle>
                <a:lvl1pPr>
                  <a:lnSpc>
                    <a:spcPct val="120000"/>
                  </a:lnSpc>
                  <a:defRPr sz="2100">
                    <a:solidFill>
                      <a:srgbClr val="344854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solidFill>
                      <a:schemeClr val="tx1"/>
                    </a:solidFill>
                  </a:rPr>
                  <a:t>The core reason for budget dynamism is the dynamic nature of the</a:t>
                </a:r>
                <a:r>
                  <a:rPr lang="en-US" altLang="zh-CN" sz="2400" dirty="0">
                    <a:solidFill>
                      <a:srgbClr val="660874"/>
                    </a:solidFill>
                  </a:rPr>
                  <a:t> attention weight distributions 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at runtime.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solidFill>
                      <a:schemeClr val="tx1"/>
                    </a:solidFill>
                  </a:rPr>
                  <a:t>Inspired by nucleus sampling,</a:t>
                </a:r>
                <a:r>
                  <a:rPr lang="zh-CN" alt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we</a:t>
                </a:r>
                <a:r>
                  <a:rPr lang="zh-CN" alt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propose</a:t>
                </a:r>
                <a:r>
                  <a:rPr lang="zh-CN" alt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2400" b="1" dirty="0">
                    <a:solidFill>
                      <a:schemeClr val="tx1"/>
                    </a:solidFill>
                  </a:rPr>
                  <a:t>top-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US" sz="2400" b="1" dirty="0">
                    <a:solidFill>
                      <a:schemeClr val="tx1"/>
                    </a:solidFill>
                  </a:rPr>
                  <a:t> sparse attention</a:t>
                </a:r>
                <a:r>
                  <a:rPr lang="en-US" sz="2400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55" name="TextBox 39">
                <a:extLst>
                  <a:ext uri="{FF2B5EF4-FFF2-40B4-BE49-F238E27FC236}">
                    <a16:creationId xmlns:a16="http://schemas.microsoft.com/office/drawing/2014/main" id="{87848C82-508F-90CF-E0B2-E7B3C0B35C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35448" y="4790467"/>
                <a:ext cx="9064534" cy="1824346"/>
              </a:xfrm>
              <a:prstGeom prst="rect">
                <a:avLst/>
              </a:prstGeom>
              <a:blipFill>
                <a:blip r:embed="rId19"/>
                <a:stretch>
                  <a:fillRect l="-1412" t="-669" r="-740" b="-7023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7" name="图片 56">
            <a:extLst>
              <a:ext uri="{FF2B5EF4-FFF2-40B4-BE49-F238E27FC236}">
                <a16:creationId xmlns:a16="http://schemas.microsoft.com/office/drawing/2014/main" id="{786B1EDB-9A44-228F-E256-7F2D22EAAC4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923361" y="6826485"/>
            <a:ext cx="9040824" cy="148551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39">
                <a:extLst>
                  <a:ext uri="{FF2B5EF4-FFF2-40B4-BE49-F238E27FC236}">
                    <a16:creationId xmlns:a16="http://schemas.microsoft.com/office/drawing/2014/main" id="{F87534C1-40BA-C743-8EE3-8570AA849A28}"/>
                  </a:ext>
                </a:extLst>
              </p:cNvPr>
              <p:cNvSpPr txBox="1"/>
              <p:nvPr/>
            </p:nvSpPr>
            <p:spPr>
              <a:xfrm>
                <a:off x="11635448" y="8394954"/>
                <a:ext cx="4217183" cy="1824346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square" lIns="45719" rIns="45719">
                <a:spAutoFit/>
              </a:bodyPr>
              <a:lstStyle>
                <a:lvl1pPr>
                  <a:lnSpc>
                    <a:spcPct val="120000"/>
                  </a:lnSpc>
                  <a:defRPr sz="2100">
                    <a:solidFill>
                      <a:srgbClr val="344854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solidFill>
                      <a:schemeClr val="tx1"/>
                    </a:solidFill>
                  </a:rPr>
                  <a:t>Top-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</a:rPr>
                  <a:t> efficiently uses minimal budget to achieve the error requirement, thus achieving adaptive sparsity.</a:t>
                </a:r>
              </a:p>
            </p:txBody>
          </p:sp>
        </mc:Choice>
        <mc:Fallback xmlns="">
          <p:sp>
            <p:nvSpPr>
              <p:cNvPr id="58" name="TextBox 39">
                <a:extLst>
                  <a:ext uri="{FF2B5EF4-FFF2-40B4-BE49-F238E27FC236}">
                    <a16:creationId xmlns:a16="http://schemas.microsoft.com/office/drawing/2014/main" id="{F87534C1-40BA-C743-8EE3-8570AA849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35448" y="8394954"/>
                <a:ext cx="4217183" cy="1824346"/>
              </a:xfrm>
              <a:prstGeom prst="rect">
                <a:avLst/>
              </a:prstGeom>
              <a:blipFill>
                <a:blip r:embed="rId21"/>
                <a:stretch>
                  <a:fillRect l="-3039" t="-669" r="-2894" b="-7023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9" name="图片 58">
            <a:extLst>
              <a:ext uri="{FF2B5EF4-FFF2-40B4-BE49-F238E27FC236}">
                <a16:creationId xmlns:a16="http://schemas.microsoft.com/office/drawing/2014/main" id="{CE864F5B-24A3-D8EF-FE7F-442A788932E9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6167715" y="8312003"/>
            <a:ext cx="3970054" cy="2097756"/>
          </a:xfrm>
          <a:prstGeom prst="rect">
            <a:avLst/>
          </a:prstGeom>
        </p:spPr>
      </p:pic>
      <p:sp>
        <p:nvSpPr>
          <p:cNvPr id="60" name="TextBox 38">
            <a:extLst>
              <a:ext uri="{FF2B5EF4-FFF2-40B4-BE49-F238E27FC236}">
                <a16:creationId xmlns:a16="http://schemas.microsoft.com/office/drawing/2014/main" id="{D725EDE2-C3B0-4BA2-57C9-0DC92F398FCA}"/>
              </a:ext>
            </a:extLst>
          </p:cNvPr>
          <p:cNvSpPr txBox="1"/>
          <p:nvPr/>
        </p:nvSpPr>
        <p:spPr>
          <a:xfrm>
            <a:off x="11635448" y="10889592"/>
            <a:ext cx="9064534" cy="615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3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altLang="zh-CN" b="1" dirty="0">
                <a:solidFill>
                  <a:srgbClr val="660874"/>
                </a:solidFill>
              </a:rPr>
              <a:t>Twilight Design</a:t>
            </a:r>
            <a:endParaRPr b="1" dirty="0">
              <a:solidFill>
                <a:srgbClr val="660874"/>
              </a:solidFill>
            </a:endParaRPr>
          </a:p>
        </p:txBody>
      </p:sp>
      <p:sp>
        <p:nvSpPr>
          <p:cNvPr id="61" name="TextBox 39">
            <a:extLst>
              <a:ext uri="{FF2B5EF4-FFF2-40B4-BE49-F238E27FC236}">
                <a16:creationId xmlns:a16="http://schemas.microsoft.com/office/drawing/2014/main" id="{7C7A1FF0-FAC6-778F-11A8-039276FAAE5E}"/>
              </a:ext>
            </a:extLst>
          </p:cNvPr>
          <p:cNvSpPr txBox="1"/>
          <p:nvPr/>
        </p:nvSpPr>
        <p:spPr>
          <a:xfrm>
            <a:off x="11787848" y="11660025"/>
            <a:ext cx="9064534" cy="9379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20000"/>
              </a:lnSpc>
              <a:defRPr sz="2100">
                <a:solidFill>
                  <a:srgbClr val="344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</a:rPr>
              <a:t>Twilight adopts a hierarchical </a:t>
            </a:r>
            <a:r>
              <a:rPr lang="en-US" altLang="zh-CN" sz="2400" b="1" dirty="0">
                <a:solidFill>
                  <a:schemeClr val="tx1"/>
                </a:solidFill>
              </a:rPr>
              <a:t>Select-then-Prune</a:t>
            </a:r>
            <a:r>
              <a:rPr lang="en-US" altLang="zh-CN" sz="2400" dirty="0">
                <a:solidFill>
                  <a:schemeClr val="tx1"/>
                </a:solidFill>
              </a:rPr>
              <a:t> architecture to accelerate existing sparse attention methods.  </a:t>
            </a:r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63" name="图片 62">
            <a:extLst>
              <a:ext uri="{FF2B5EF4-FFF2-40B4-BE49-F238E27FC236}">
                <a16:creationId xmlns:a16="http://schemas.microsoft.com/office/drawing/2014/main" id="{B1A60A72-EDA5-98C0-5A24-8E561A983E5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272202" y="12887573"/>
            <a:ext cx="10348958" cy="4868566"/>
          </a:xfrm>
          <a:prstGeom prst="rect">
            <a:avLst/>
          </a:prstGeom>
        </p:spPr>
      </p:pic>
      <p:sp>
        <p:nvSpPr>
          <p:cNvPr id="64" name="TextBox 39">
            <a:extLst>
              <a:ext uri="{FF2B5EF4-FFF2-40B4-BE49-F238E27FC236}">
                <a16:creationId xmlns:a16="http://schemas.microsoft.com/office/drawing/2014/main" id="{474DE422-B756-D9B9-22F0-058A0188B4F1}"/>
              </a:ext>
            </a:extLst>
          </p:cNvPr>
          <p:cNvSpPr txBox="1"/>
          <p:nvPr/>
        </p:nvSpPr>
        <p:spPr>
          <a:xfrm>
            <a:off x="11819693" y="18390718"/>
            <a:ext cx="9801467" cy="22675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120000"/>
              </a:lnSpc>
              <a:defRPr sz="2100">
                <a:solidFill>
                  <a:srgbClr val="344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</a:rPr>
              <a:t>Three </a:t>
            </a:r>
            <a:r>
              <a:rPr lang="en-US" altLang="zh-CN" sz="2400" b="1" dirty="0">
                <a:solidFill>
                  <a:schemeClr val="tx1"/>
                </a:solidFill>
              </a:rPr>
              <a:t>key kernel optimizations </a:t>
            </a:r>
            <a:r>
              <a:rPr lang="en-US" altLang="zh-CN" sz="2400" dirty="0">
                <a:solidFill>
                  <a:schemeClr val="tx1"/>
                </a:solidFill>
              </a:rPr>
              <a:t>to accelerate Twilight Pruner:</a:t>
            </a:r>
          </a:p>
          <a:p>
            <a:r>
              <a:rPr lang="en-US" sz="2400" dirty="0">
                <a:solidFill>
                  <a:schemeClr val="tx1"/>
                </a:solidFill>
              </a:rPr>
              <a:t>	1) Efficient </a:t>
            </a:r>
            <a:r>
              <a:rPr lang="en-US" sz="2400" dirty="0" err="1">
                <a:solidFill>
                  <a:srgbClr val="660874"/>
                </a:solidFill>
              </a:rPr>
              <a:t>SpGEMV</a:t>
            </a:r>
            <a:r>
              <a:rPr lang="en-US" sz="2400" dirty="0">
                <a:solidFill>
                  <a:schemeClr val="tx1"/>
                </a:solidFill>
              </a:rPr>
              <a:t> with 4-bit Quantization of Key Cache.</a:t>
            </a:r>
          </a:p>
          <a:p>
            <a:r>
              <a:rPr lang="en-US" sz="2400" dirty="0">
                <a:solidFill>
                  <a:schemeClr val="tx1"/>
                </a:solidFill>
              </a:rPr>
              <a:t>	2) Efficient Sorting-Free </a:t>
            </a:r>
            <a:r>
              <a:rPr lang="en-US" sz="2400" dirty="0">
                <a:solidFill>
                  <a:srgbClr val="660874"/>
                </a:solidFill>
              </a:rPr>
              <a:t>Top-p</a:t>
            </a:r>
            <a:r>
              <a:rPr lang="en-US" sz="2400" dirty="0">
                <a:solidFill>
                  <a:srgbClr val="705578"/>
                </a:solidFill>
              </a:rPr>
              <a:t> </a:t>
            </a:r>
            <a:r>
              <a:rPr lang="en-US" sz="2400" dirty="0">
                <a:solidFill>
                  <a:schemeClr val="tx1"/>
                </a:solidFill>
              </a:rPr>
              <a:t>via Binary Search.</a:t>
            </a:r>
          </a:p>
          <a:p>
            <a:r>
              <a:rPr lang="en-US" sz="2400" dirty="0">
                <a:solidFill>
                  <a:schemeClr val="tx1"/>
                </a:solidFill>
              </a:rPr>
              <a:t>	3) </a:t>
            </a:r>
            <a:r>
              <a:rPr lang="en-US" sz="2400" dirty="0">
                <a:solidFill>
                  <a:srgbClr val="660874"/>
                </a:solidFill>
              </a:rPr>
              <a:t>Load Balancing </a:t>
            </a:r>
            <a:r>
              <a:rPr lang="en-US" sz="2400" dirty="0">
                <a:solidFill>
                  <a:schemeClr val="tx1"/>
                </a:solidFill>
              </a:rPr>
              <a:t>Attention Kernel with Awareness of Head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        Dynamism and GQA adaption.</a:t>
            </a:r>
          </a:p>
        </p:txBody>
      </p:sp>
      <p:sp>
        <p:nvSpPr>
          <p:cNvPr id="65" name="TextBox 38">
            <a:extLst>
              <a:ext uri="{FF2B5EF4-FFF2-40B4-BE49-F238E27FC236}">
                <a16:creationId xmlns:a16="http://schemas.microsoft.com/office/drawing/2014/main" id="{FC1369DD-D0FC-CD2A-CB86-D894858CD122}"/>
              </a:ext>
            </a:extLst>
          </p:cNvPr>
          <p:cNvSpPr txBox="1"/>
          <p:nvPr/>
        </p:nvSpPr>
        <p:spPr>
          <a:xfrm>
            <a:off x="22928580" y="3524768"/>
            <a:ext cx="9064534" cy="615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3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altLang="zh-CN" b="1" dirty="0">
                <a:solidFill>
                  <a:srgbClr val="660874"/>
                </a:solidFill>
              </a:rPr>
              <a:t>Accuracy Evaluation</a:t>
            </a:r>
            <a:endParaRPr b="1" dirty="0">
              <a:solidFill>
                <a:srgbClr val="660874"/>
              </a:solidFill>
            </a:endParaRPr>
          </a:p>
        </p:txBody>
      </p:sp>
      <p:sp>
        <p:nvSpPr>
          <p:cNvPr id="66" name="TextBox 39">
            <a:extLst>
              <a:ext uri="{FF2B5EF4-FFF2-40B4-BE49-F238E27FC236}">
                <a16:creationId xmlns:a16="http://schemas.microsoft.com/office/drawing/2014/main" id="{E6A95A5D-B988-0BD9-A509-B902F1D2010F}"/>
              </a:ext>
            </a:extLst>
          </p:cNvPr>
          <p:cNvSpPr txBox="1"/>
          <p:nvPr/>
        </p:nvSpPr>
        <p:spPr>
          <a:xfrm>
            <a:off x="22876973" y="4246176"/>
            <a:ext cx="4581531" cy="2710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120000"/>
              </a:lnSpc>
              <a:defRPr sz="2100">
                <a:solidFill>
                  <a:srgbClr val="344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</a:rPr>
              <a:t>Twilight achieves nearly</a:t>
            </a:r>
            <a:r>
              <a:rPr lang="en-US" altLang="zh-CN" sz="2400" dirty="0">
                <a:solidFill>
                  <a:srgbClr val="660874"/>
                </a:solidFill>
              </a:rPr>
              <a:t> no accuracy loss </a:t>
            </a:r>
            <a:r>
              <a:rPr lang="en-US" altLang="zh-CN" sz="2400" dirty="0">
                <a:solidFill>
                  <a:schemeClr val="tx1"/>
                </a:solidFill>
              </a:rPr>
              <a:t>on three medium-context benchmarks and two long-context benchmarks (</a:t>
            </a:r>
            <a:r>
              <a:rPr lang="en-US" altLang="zh-CN" sz="2400" dirty="0" err="1">
                <a:solidFill>
                  <a:schemeClr val="tx1"/>
                </a:solidFill>
              </a:rPr>
              <a:t>LongBench</a:t>
            </a:r>
            <a:r>
              <a:rPr lang="en-US" altLang="zh-CN" sz="2400" dirty="0">
                <a:solidFill>
                  <a:schemeClr val="tx1"/>
                </a:solidFill>
              </a:rPr>
              <a:t>, RULER).</a:t>
            </a:r>
          </a:p>
        </p:txBody>
      </p:sp>
      <p:pic>
        <p:nvPicPr>
          <p:cNvPr id="67" name="图片 66">
            <a:extLst>
              <a:ext uri="{FF2B5EF4-FFF2-40B4-BE49-F238E27FC236}">
                <a16:creationId xmlns:a16="http://schemas.microsoft.com/office/drawing/2014/main" id="{96CA328E-83BE-8D86-8F05-3F34357E4A59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7737507" y="3671886"/>
            <a:ext cx="3365345" cy="3291849"/>
          </a:xfrm>
          <a:prstGeom prst="rect">
            <a:avLst/>
          </a:prstGeom>
        </p:spPr>
      </p:pic>
      <p:pic>
        <p:nvPicPr>
          <p:cNvPr id="68" name="图片 67">
            <a:extLst>
              <a:ext uri="{FF2B5EF4-FFF2-40B4-BE49-F238E27FC236}">
                <a16:creationId xmlns:a16="http://schemas.microsoft.com/office/drawing/2014/main" id="{CD078ED6-BCBF-1FE8-F188-16BCE8A604FB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2731608" y="7297744"/>
            <a:ext cx="9453791" cy="3261191"/>
          </a:xfrm>
          <a:prstGeom prst="rect">
            <a:avLst/>
          </a:prstGeom>
        </p:spPr>
      </p:pic>
      <p:sp>
        <p:nvSpPr>
          <p:cNvPr id="69" name="TextBox 38">
            <a:extLst>
              <a:ext uri="{FF2B5EF4-FFF2-40B4-BE49-F238E27FC236}">
                <a16:creationId xmlns:a16="http://schemas.microsoft.com/office/drawing/2014/main" id="{8B06DB90-255A-6FA4-BDE6-3D7BD9282F01}"/>
              </a:ext>
            </a:extLst>
          </p:cNvPr>
          <p:cNvSpPr txBox="1"/>
          <p:nvPr/>
        </p:nvSpPr>
        <p:spPr>
          <a:xfrm>
            <a:off x="22876973" y="10890343"/>
            <a:ext cx="9064534" cy="615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3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altLang="zh-CN" b="1" dirty="0">
                <a:solidFill>
                  <a:srgbClr val="660874"/>
                </a:solidFill>
              </a:rPr>
              <a:t>Efficiency Evaluation</a:t>
            </a:r>
            <a:endParaRPr b="1" dirty="0">
              <a:solidFill>
                <a:srgbClr val="660874"/>
              </a:solidFill>
            </a:endParaRPr>
          </a:p>
        </p:txBody>
      </p:sp>
      <p:sp>
        <p:nvSpPr>
          <p:cNvPr id="70" name="TextBox 39">
            <a:extLst>
              <a:ext uri="{FF2B5EF4-FFF2-40B4-BE49-F238E27FC236}">
                <a16:creationId xmlns:a16="http://schemas.microsoft.com/office/drawing/2014/main" id="{74FD1246-6FE5-CC0D-9540-0E891DAD657F}"/>
              </a:ext>
            </a:extLst>
          </p:cNvPr>
          <p:cNvSpPr txBox="1"/>
          <p:nvPr/>
        </p:nvSpPr>
        <p:spPr>
          <a:xfrm>
            <a:off x="22928580" y="11660025"/>
            <a:ext cx="9064534" cy="9379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20000"/>
              </a:lnSpc>
              <a:defRPr sz="2100">
                <a:solidFill>
                  <a:srgbClr val="344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</a:rPr>
              <a:t>Speedup on self-attention operator compared to </a:t>
            </a:r>
            <a:r>
              <a:rPr lang="en-US" altLang="zh-CN" sz="2400" dirty="0" err="1">
                <a:solidFill>
                  <a:schemeClr val="tx1"/>
                </a:solidFill>
              </a:rPr>
              <a:t>FlashInfer</a:t>
            </a:r>
            <a:r>
              <a:rPr lang="en-US" altLang="zh-CN" sz="2400" dirty="0">
                <a:solidFill>
                  <a:schemeClr val="tx1"/>
                </a:solidFill>
              </a:rPr>
              <a:t> and Quest without Twilight.</a:t>
            </a:r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71" name="图片 70">
            <a:extLst>
              <a:ext uri="{FF2B5EF4-FFF2-40B4-BE49-F238E27FC236}">
                <a16:creationId xmlns:a16="http://schemas.microsoft.com/office/drawing/2014/main" id="{31D15CDB-131F-78DF-A5EB-7CDB86A4A12F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2456199" y="12918231"/>
            <a:ext cx="10006816" cy="3503694"/>
          </a:xfrm>
          <a:prstGeom prst="rect">
            <a:avLst/>
          </a:prstGeom>
        </p:spPr>
      </p:pic>
      <p:sp>
        <p:nvSpPr>
          <p:cNvPr id="72" name="TextBox 39">
            <a:extLst>
              <a:ext uri="{FF2B5EF4-FFF2-40B4-BE49-F238E27FC236}">
                <a16:creationId xmlns:a16="http://schemas.microsoft.com/office/drawing/2014/main" id="{531B6C6C-DDB9-085D-64F7-0CD8DE4DAE04}"/>
              </a:ext>
            </a:extLst>
          </p:cNvPr>
          <p:cNvSpPr txBox="1"/>
          <p:nvPr/>
        </p:nvSpPr>
        <p:spPr>
          <a:xfrm>
            <a:off x="22876973" y="16761475"/>
            <a:ext cx="9064534" cy="494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20000"/>
              </a:lnSpc>
              <a:defRPr sz="2100">
                <a:solidFill>
                  <a:srgbClr val="344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</a:rPr>
              <a:t>Latency breakdown of Quest with Twilight.</a:t>
            </a:r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74" name="图片 73">
            <a:extLst>
              <a:ext uri="{FF2B5EF4-FFF2-40B4-BE49-F238E27FC236}">
                <a16:creationId xmlns:a16="http://schemas.microsoft.com/office/drawing/2014/main" id="{2B8B6E63-93E9-B479-6512-DA85D2D2D368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4484810" y="17404105"/>
            <a:ext cx="5947387" cy="3388824"/>
          </a:xfrm>
          <a:prstGeom prst="rect">
            <a:avLst/>
          </a:prstGeom>
        </p:spPr>
      </p:pic>
      <p:sp>
        <p:nvSpPr>
          <p:cNvPr id="3" name="TextBox 38">
            <a:extLst>
              <a:ext uri="{FF2B5EF4-FFF2-40B4-BE49-F238E27FC236}">
                <a16:creationId xmlns:a16="http://schemas.microsoft.com/office/drawing/2014/main" id="{B7C71820-8FBC-7A0F-6E94-FEF29AE10E69}"/>
              </a:ext>
            </a:extLst>
          </p:cNvPr>
          <p:cNvSpPr txBox="1"/>
          <p:nvPr/>
        </p:nvSpPr>
        <p:spPr>
          <a:xfrm>
            <a:off x="1050672" y="3582815"/>
            <a:ext cx="9064534" cy="615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m="http://schemas.openxmlformats.org/officeDocument/2006/math" xmlns="" xmlns:a14="http://schemas.microsoft.com/office/drawing/2010/main" xmlns:mc="http://schemas.openxmlformats.org/markup-compatibility/2006" val="1"/>
            </a:ext>
          </a:extLst>
        </p:spPr>
        <p:txBody>
          <a:bodyPr lIns="45719" rIns="45719">
            <a:spAutoFit/>
          </a:bodyPr>
          <a:lstStyle>
            <a:lvl1pPr>
              <a:defRPr sz="3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altLang="zh-CN" b="1" dirty="0">
                <a:solidFill>
                  <a:srgbClr val="660874"/>
                </a:solidFill>
              </a:rPr>
              <a:t>Introduction</a:t>
            </a:r>
            <a:endParaRPr lang="en-US" b="1" dirty="0">
              <a:solidFill>
                <a:srgbClr val="660874"/>
              </a:solidFill>
            </a:endParaRP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326532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326532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326532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326532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398</TotalTime>
  <Words>371</Words>
  <Application>Microsoft Office PowerPoint</Application>
  <PresentationFormat>自定义</PresentationFormat>
  <Paragraphs>29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Times New Roman</vt:lpstr>
      <vt:lpstr>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Chaofan Lin</dc:creator>
  <cp:lastModifiedBy>Chaofan Lin</cp:lastModifiedBy>
  <cp:revision>34</cp:revision>
  <dcterms:modified xsi:type="dcterms:W3CDTF">2025-11-29T19:29:16Z</dcterms:modified>
</cp:coreProperties>
</file>