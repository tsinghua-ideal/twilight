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147480312" r:id="rId3"/>
    <p:sldId id="2147480375" r:id="rId4"/>
    <p:sldId id="2147480376" r:id="rId5"/>
    <p:sldId id="2147480381" r:id="rId6"/>
    <p:sldId id="2147480380" r:id="rId7"/>
    <p:sldId id="2147480378" r:id="rId8"/>
    <p:sldId id="2147480382" r:id="rId9"/>
    <p:sldId id="2147480362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874"/>
    <a:srgbClr val="6C367D"/>
    <a:srgbClr val="B9B9B9"/>
    <a:srgbClr val="454DB7"/>
    <a:srgbClr val="A51431"/>
    <a:srgbClr val="CCE3BC"/>
    <a:srgbClr val="44546A"/>
    <a:srgbClr val="2E75B6"/>
    <a:srgbClr val="9F1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294"/>
    <p:restoredTop sz="69380"/>
  </p:normalViewPr>
  <p:slideViewPr>
    <p:cSldViewPr snapToGrid="0">
      <p:cViewPr varScale="1">
        <p:scale>
          <a:sx n="111" d="100"/>
          <a:sy n="111" d="100"/>
        </p:scale>
        <p:origin x="1712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0671CF-5AB3-7B4C-A831-AB5717733CC2}" type="datetimeFigureOut">
              <a:rPr kumimoji="1" lang="zh-CN" altLang="en-US" smtClean="0"/>
              <a:t>2025/11/30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C8A3D8-A169-1240-9075-30C35E19A44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61636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C8A3D8-A169-1240-9075-30C35E19A44E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734548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C8A3D8-A169-1240-9075-30C35E19A44E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665249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C8A3D8-A169-1240-9075-30C35E19A44E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380512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C8A3D8-A169-1240-9075-30C35E19A44E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632213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C8A3D8-A169-1240-9075-30C35E19A44E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73379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C8A3D8-A169-1240-9075-30C35E19A44E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069736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C8A3D8-A169-1240-9075-30C35E19A44E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448207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C8A3D8-A169-1240-9075-30C35E19A44E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009877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C8A3D8-A169-1240-9075-30C35E19A44E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553686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AA5544-2A42-9D5C-A2EA-55FF7DE0F3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2E61650-BA62-65C8-B785-4394B8FD26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19" name="页脚占位符 4">
            <a:extLst>
              <a:ext uri="{FF2B5EF4-FFF2-40B4-BE49-F238E27FC236}">
                <a16:creationId xmlns:a16="http://schemas.microsoft.com/office/drawing/2014/main" id="{5C9FDEBF-A367-B1A4-F554-5E87EDF22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12192000" cy="365125"/>
          </a:xfrm>
          <a:solidFill>
            <a:srgbClr val="660874"/>
          </a:solidFill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en-US" altLang="zh-CN" dirty="0"/>
              <a:t>Twilight: Adaptive Attention Sparsity with Hierarchical Top-$p$ Pruning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0098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98E393-F5F6-DC70-91F7-368838E6CB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0" y="153224"/>
            <a:ext cx="11091040" cy="698114"/>
          </a:xfrm>
        </p:spPr>
        <p:txBody>
          <a:bodyPr/>
          <a:lstStyle>
            <a:lvl1pPr>
              <a:defRPr b="1" i="0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kumimoji="1" lang="en-US" altLang="zh-CN" dirty="0"/>
              <a:t>Title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C38486-29F5-329F-763C-0DDF8472BC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10159"/>
            <a:ext cx="11353800" cy="4766804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660874"/>
              </a:buClr>
              <a:buSzPct val="50000"/>
              <a:buFont typeface="Wingdings" panose="05000000000000000000" pitchFamily="2" charset="2"/>
              <a:buChar char=""/>
              <a:defRPr>
                <a:latin typeface="Alibaba Sans" panose="020B0503020203040204" pitchFamily="34" charset="0"/>
                <a:ea typeface="SimHei" panose="02010609060101010101" pitchFamily="49" charset="-122"/>
                <a:cs typeface="Alibaba Sans" panose="020B0503020203040204" pitchFamily="34" charset="0"/>
              </a:defRPr>
            </a:lvl1pPr>
            <a:lvl2pPr>
              <a:defRPr>
                <a:latin typeface="Alibaba Sans" panose="020B0503020203040204" pitchFamily="34" charset="0"/>
                <a:ea typeface="SimHei" panose="02010609060101010101" pitchFamily="49" charset="-122"/>
                <a:cs typeface="Alibaba Sans" panose="020B0503020203040204" pitchFamily="34" charset="0"/>
              </a:defRPr>
            </a:lvl2pPr>
            <a:lvl3pPr>
              <a:defRPr>
                <a:latin typeface="Alibaba Sans" panose="020B0503020203040204" pitchFamily="34" charset="0"/>
                <a:ea typeface="SimHei" panose="02010609060101010101" pitchFamily="49" charset="-122"/>
                <a:cs typeface="Alibaba Sans" panose="020B0503020203040204" pitchFamily="34" charset="0"/>
              </a:defRPr>
            </a:lvl3pPr>
            <a:lvl4pPr>
              <a:defRPr>
                <a:latin typeface="Alibaba Sans" panose="020B0503020203040204" pitchFamily="34" charset="0"/>
                <a:ea typeface="SimHei" panose="02010609060101010101" pitchFamily="49" charset="-122"/>
                <a:cs typeface="Alibaba Sans" panose="020B0503020203040204" pitchFamily="34" charset="0"/>
              </a:defRPr>
            </a:lvl4pPr>
            <a:lvl5pPr>
              <a:defRPr>
                <a:latin typeface="Alibaba Sans" panose="020B0503020203040204" pitchFamily="34" charset="0"/>
                <a:ea typeface="SimHei" panose="02010609060101010101" pitchFamily="49" charset="-122"/>
                <a:cs typeface="Alibaba Sans" panose="020B0503020203040204" pitchFamily="34" charset="0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1CF1D82-8F18-EE22-1508-A02456D2C377}"/>
              </a:ext>
            </a:extLst>
          </p:cNvPr>
          <p:cNvSpPr/>
          <p:nvPr userDrawn="1"/>
        </p:nvSpPr>
        <p:spPr>
          <a:xfrm>
            <a:off x="0" y="132204"/>
            <a:ext cx="126124" cy="698114"/>
          </a:xfrm>
          <a:prstGeom prst="rect">
            <a:avLst/>
          </a:prstGeom>
          <a:solidFill>
            <a:srgbClr val="6608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19FDF52B-6028-C6A2-6AB4-668018996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8610600" cy="365125"/>
          </a:xfrm>
          <a:solidFill>
            <a:srgbClr val="660874"/>
          </a:solidFill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en-US" altLang="zh-CN" dirty="0"/>
              <a:t>Twilight: Adaptive Attention Sparsity with Hierarchical Top-$p$ Pruning</a:t>
            </a:r>
            <a:endParaRPr kumimoji="1" lang="zh-CN" altLang="en-US" dirty="0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1F59390D-9F21-CC01-9AB1-7D596F081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4"/>
            <a:ext cx="3581400" cy="365125"/>
          </a:xfrm>
          <a:solidFill>
            <a:srgbClr val="660874"/>
          </a:solidFill>
        </p:spPr>
        <p:txBody>
          <a:bodyPr/>
          <a:lstStyle/>
          <a:p>
            <a:fld id="{EB22AE02-44EE-484B-AF46-D6DF5AA822AE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28960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554A6C4-510F-BC1A-CCE7-2918102F8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6FED5-1E87-8246-9F85-99A28D605D5E}" type="datetime1">
              <a:rPr kumimoji="1" lang="zh-CN" altLang="en-US" smtClean="0"/>
              <a:t>2025/11/30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8D4AE4F-1D75-1A99-6B8C-6EB8C2745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3D1C59B-49DE-05E2-A86E-03761F1CF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2AE02-44EE-484B-AF46-D6DF5AA822AE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5" name="文本占位符 2">
            <a:extLst>
              <a:ext uri="{FF2B5EF4-FFF2-40B4-BE49-F238E27FC236}">
                <a16:creationId xmlns:a16="http://schemas.microsoft.com/office/drawing/2014/main" id="{381D8292-91FF-FF4B-DC84-E499487C6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517" y="125333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882198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85DCB12-94CA-7DFE-5826-FBCCF2B7D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A09815A-6657-94FF-311B-858AB2B8F5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A0E2B1-BB14-0362-FBBC-8EBD72642F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3A8423-4010-0847-87A6-30FC1915B422}" type="datetime1">
              <a:rPr kumimoji="1" lang="zh-CN" altLang="en-US" smtClean="0"/>
              <a:t>2025/11/30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39FC52-C50C-2A9A-65B9-847C95550C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63BCB1-1B74-36D0-7A9E-77E1D7F623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22AE02-44EE-484B-AF46-D6DF5AA822A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91204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6C367D"/>
        </a:buClr>
        <a:buSzPct val="50000"/>
        <a:buFont typeface="Wingdings" panose="05000000000000000000" pitchFamily="2" charset="2"/>
        <a:buChar char="q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9.png"/><Relationship Id="rId4" Type="http://schemas.openxmlformats.org/officeDocument/2006/relationships/image" Target="../media/image3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4.png"/><Relationship Id="rId4" Type="http://schemas.openxmlformats.org/officeDocument/2006/relationships/image" Target="../media/image3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CA0013FA-32E6-570F-906B-E6C58FFA366B}"/>
                  </a:ext>
                </a:extLst>
              </p:cNvPr>
              <p:cNvSpPr>
                <a:spLocks noGrp="1"/>
              </p:cNvSpPr>
              <p:nvPr>
                <p:ph type="ctrTitle"/>
              </p:nvPr>
            </p:nvSpPr>
            <p:spPr>
              <a:xfrm>
                <a:off x="1488731" y="2957277"/>
                <a:ext cx="10587486" cy="1296462"/>
              </a:xfrm>
            </p:spPr>
            <p:txBody>
              <a:bodyPr>
                <a:noAutofit/>
              </a:bodyPr>
              <a:lstStyle/>
              <a:p>
                <a:pPr algn="l"/>
                <a:r>
                  <a:rPr kumimoji="1" lang="en-US" altLang="zh-CN" sz="4400" b="1" dirty="0">
                    <a:solidFill>
                      <a:srgbClr val="66087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Calibri" panose="020F0502020204030204" pitchFamily="34" charset="0"/>
                  </a:rPr>
                  <a:t>Twilight: Adaptive Attention Sparsity with Hierarchical Top-</a:t>
                </a:r>
                <a14:m>
                  <m:oMath xmlns:m="http://schemas.openxmlformats.org/officeDocument/2006/math">
                    <m:r>
                      <a:rPr kumimoji="1" lang="en-US" altLang="zh-CN" sz="4400" b="1" i="1" smtClean="0">
                        <a:solidFill>
                          <a:srgbClr val="660874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libri" panose="020F0502020204030204" pitchFamily="34" charset="0"/>
                      </a:rPr>
                      <m:t>𝒑</m:t>
                    </m:r>
                  </m:oMath>
                </a14:m>
                <a:r>
                  <a:rPr kumimoji="1" lang="en-US" altLang="zh-CN" sz="4400" b="1" dirty="0">
                    <a:solidFill>
                      <a:srgbClr val="66087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Calibri" panose="020F0502020204030204" pitchFamily="34" charset="0"/>
                  </a:rPr>
                  <a:t> Pruning</a:t>
                </a:r>
                <a:endParaRPr kumimoji="1" lang="zh-CN" altLang="en-US" sz="4400" b="1" dirty="0">
                  <a:solidFill>
                    <a:srgbClr val="66087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CA0013FA-32E6-570F-906B-E6C58FFA36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trTitle"/>
              </p:nvPr>
            </p:nvSpPr>
            <p:spPr>
              <a:xfrm>
                <a:off x="1488731" y="2957277"/>
                <a:ext cx="10587486" cy="1296462"/>
              </a:xfrm>
              <a:blipFill>
                <a:blip r:embed="rId3"/>
                <a:stretch>
                  <a:fillRect l="-2303" t="-15023" r="-3742" b="-225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本框 16">
            <a:extLst>
              <a:ext uri="{FF2B5EF4-FFF2-40B4-BE49-F238E27FC236}">
                <a16:creationId xmlns:a16="http://schemas.microsoft.com/office/drawing/2014/main" id="{6D3BDFA0-4660-7C53-EF5B-A0172867D41C}"/>
              </a:ext>
            </a:extLst>
          </p:cNvPr>
          <p:cNvSpPr txBox="1"/>
          <p:nvPr/>
        </p:nvSpPr>
        <p:spPr>
          <a:xfrm>
            <a:off x="8095325" y="5889069"/>
            <a:ext cx="38371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6C367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Sans" panose="020B0503020203040204" pitchFamily="34" charset="0"/>
              </a:rPr>
              <a:t>https://github.com/tsinghua-ideal/Twilight</a:t>
            </a:r>
            <a:endParaRPr lang="zh-CN" altLang="en-US" sz="1400" dirty="0">
              <a:solidFill>
                <a:srgbClr val="6C367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libaba Sans" panose="020B0503020203040204" pitchFamily="34" charset="0"/>
            </a:endParaRPr>
          </a:p>
        </p:txBody>
      </p:sp>
      <p:sp>
        <p:nvSpPr>
          <p:cNvPr id="11" name="副标题 10">
            <a:extLst>
              <a:ext uri="{FF2B5EF4-FFF2-40B4-BE49-F238E27FC236}">
                <a16:creationId xmlns:a16="http://schemas.microsoft.com/office/drawing/2014/main" id="{6676ECD3-E461-8629-794D-0300C4B42E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553" y="4818901"/>
            <a:ext cx="11606642" cy="607168"/>
          </a:xfrm>
        </p:spPr>
        <p:txBody>
          <a:bodyPr>
            <a:normAutofit/>
          </a:bodyPr>
          <a:lstStyle/>
          <a:p>
            <a:pPr algn="l"/>
            <a:r>
              <a:rPr lang="en-US" altLang="zh-CN" sz="1800" b="1" dirty="0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Chaofan Lin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Jiaming Tang, </a:t>
            </a:r>
            <a:r>
              <a:rPr lang="en-US" altLang="zh-CN" sz="18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Shuo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Yang, </a:t>
            </a:r>
            <a:r>
              <a:rPr lang="en-US" altLang="zh-CN" sz="18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Hanshuo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Wang, Tian Tang, </a:t>
            </a:r>
            <a:r>
              <a:rPr lang="en-US" altLang="zh-CN" sz="18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Boyu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Tian, Ion </a:t>
            </a:r>
            <a:r>
              <a:rPr lang="en-US" altLang="zh-CN" sz="18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Stoica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Song Han, Mingyu Gao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2D168AED-2617-0DF3-B670-40303761692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304" t="14053" r="8254" b="37180"/>
          <a:stretch/>
        </p:blipFill>
        <p:spPr>
          <a:xfrm>
            <a:off x="299814" y="3112096"/>
            <a:ext cx="990663" cy="885530"/>
          </a:xfrm>
          <a:prstGeom prst="rect">
            <a:avLst/>
          </a:prstGeom>
        </p:spPr>
      </p:pic>
      <p:sp>
        <p:nvSpPr>
          <p:cNvPr id="16" name="副标题 10">
            <a:extLst>
              <a:ext uri="{FF2B5EF4-FFF2-40B4-BE49-F238E27FC236}">
                <a16:creationId xmlns:a16="http://schemas.microsoft.com/office/drawing/2014/main" id="{BB83D669-7664-0AFA-C97D-D7140C9A96B9}"/>
              </a:ext>
            </a:extLst>
          </p:cNvPr>
          <p:cNvSpPr txBox="1">
            <a:spLocks/>
          </p:cNvSpPr>
          <p:nvPr/>
        </p:nvSpPr>
        <p:spPr>
          <a:xfrm>
            <a:off x="160553" y="5556223"/>
            <a:ext cx="8558644" cy="66569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Tsinghua University</a:t>
            </a:r>
            <a:b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Massachusetts Institute of Technology </a:t>
            </a:r>
            <a:b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University of California, Berkeley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页脚占位符 4">
                <a:extLst>
                  <a:ext uri="{FF2B5EF4-FFF2-40B4-BE49-F238E27FC236}">
                    <a16:creationId xmlns:a16="http://schemas.microsoft.com/office/drawing/2014/main" id="{706ED12A-EF78-37F8-C732-45F16A8A146E}"/>
                  </a:ext>
                </a:extLst>
              </p:cNvPr>
              <p:cNvSpPr>
                <a:spLocks noGrp="1"/>
              </p:cNvSpPr>
              <p:nvPr>
                <p:ph type="ftr" sz="quarter" idx="11"/>
              </p:nvPr>
            </p:nvSpPr>
            <p:spPr>
              <a:xfrm>
                <a:off x="0" y="6492875"/>
                <a:ext cx="12192000" cy="365125"/>
              </a:xfrm>
              <a:solidFill>
                <a:srgbClr val="660874"/>
              </a:solidFill>
            </p:spPr>
            <p:txBody>
              <a:bodyPr/>
              <a:lstStyle>
                <a:lvl1pPr algn="l">
                  <a:defRPr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kumimoji="1" lang="en-US" altLang="zh-CN" dirty="0"/>
                  <a:t>Twilight: Adaptive Attention Sparsity with Hierarchical Top-</a:t>
                </a:r>
                <a14:m>
                  <m:oMath xmlns:m="http://schemas.openxmlformats.org/officeDocument/2006/math">
                    <m:r>
                      <a:rPr kumimoji="1" lang="en-US" altLang="zh-CN" b="1" i="1" smtClean="0"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kumimoji="1" lang="en-US" altLang="zh-CN" dirty="0"/>
                  <a:t> Pruning (</a:t>
                </a:r>
                <a:r>
                  <a:rPr kumimoji="1" lang="en-US" altLang="zh-CN" dirty="0" err="1"/>
                  <a:t>NeurIPS</a:t>
                </a:r>
                <a:r>
                  <a:rPr kumimoji="1" lang="en-US" altLang="zh-CN" dirty="0"/>
                  <a:t> 2025)</a:t>
                </a:r>
                <a:endParaRPr kumimoji="1" lang="zh-CN" altLang="en-US" dirty="0"/>
              </a:p>
            </p:txBody>
          </p:sp>
        </mc:Choice>
        <mc:Fallback xmlns="">
          <p:sp>
            <p:nvSpPr>
              <p:cNvPr id="18" name="页脚占位符 4">
                <a:extLst>
                  <a:ext uri="{FF2B5EF4-FFF2-40B4-BE49-F238E27FC236}">
                    <a16:creationId xmlns:a16="http://schemas.microsoft.com/office/drawing/2014/main" id="{706ED12A-EF78-37F8-C732-45F16A8A14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ftr" sz="quarter" idx="11"/>
              </p:nvPr>
            </p:nvSpPr>
            <p:spPr>
              <a:xfrm>
                <a:off x="0" y="6492875"/>
                <a:ext cx="12192000" cy="365125"/>
              </a:xfrm>
              <a:blipFill>
                <a:blip r:embed="rId5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图片 21" descr="卡通人物&#10;&#10;AI 生成的内容可能不正确。">
            <a:extLst>
              <a:ext uri="{FF2B5EF4-FFF2-40B4-BE49-F238E27FC236}">
                <a16:creationId xmlns:a16="http://schemas.microsoft.com/office/drawing/2014/main" id="{81800F6F-94E0-8DDA-E2CD-B1B1220D059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2968" t="12434" r="35017" b="13934"/>
          <a:stretch/>
        </p:blipFill>
        <p:spPr>
          <a:xfrm>
            <a:off x="8584624" y="117351"/>
            <a:ext cx="1007994" cy="993548"/>
          </a:xfrm>
          <a:prstGeom prst="rect">
            <a:avLst/>
          </a:prstGeom>
        </p:spPr>
      </p:pic>
      <p:pic>
        <p:nvPicPr>
          <p:cNvPr id="24" name="图片 23" descr="图标">
            <a:extLst>
              <a:ext uri="{FF2B5EF4-FFF2-40B4-BE49-F238E27FC236}">
                <a16:creationId xmlns:a16="http://schemas.microsoft.com/office/drawing/2014/main" id="{FFE17BD5-0D13-61CB-AFE3-6B039E6DF57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24235" b="23585"/>
          <a:stretch/>
        </p:blipFill>
        <p:spPr>
          <a:xfrm>
            <a:off x="9648143" y="269649"/>
            <a:ext cx="1320336" cy="688951"/>
          </a:xfrm>
          <a:prstGeom prst="rect">
            <a:avLst/>
          </a:prstGeom>
        </p:spPr>
      </p:pic>
      <p:pic>
        <p:nvPicPr>
          <p:cNvPr id="27" name="图片 26" descr="图片包含 文本&#10;&#10;AI 生成的内容可能不正确。">
            <a:extLst>
              <a:ext uri="{FF2B5EF4-FFF2-40B4-BE49-F238E27FC236}">
                <a16:creationId xmlns:a16="http://schemas.microsoft.com/office/drawing/2014/main" id="{A73AD06E-EE8E-8889-DF54-4B024289EE55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5841" t="25347" r="18874" b="22889"/>
          <a:stretch/>
        </p:blipFill>
        <p:spPr>
          <a:xfrm>
            <a:off x="115783" y="88020"/>
            <a:ext cx="2892724" cy="982952"/>
          </a:xfrm>
          <a:prstGeom prst="rect">
            <a:avLst/>
          </a:prstGeom>
        </p:spPr>
      </p:pic>
      <p:pic>
        <p:nvPicPr>
          <p:cNvPr id="29" name="图片 28" descr="图片包含 游戏机, 赌场, 房间, 盘子&#10;&#10;AI 生成的内容可能不正确。">
            <a:extLst>
              <a:ext uri="{FF2B5EF4-FFF2-40B4-BE49-F238E27FC236}">
                <a16:creationId xmlns:a16="http://schemas.microsoft.com/office/drawing/2014/main" id="{1353A960-B193-7EB0-6A07-6988582669B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24004" y="88020"/>
            <a:ext cx="1052213" cy="1052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877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D0C296-CA46-5024-70D1-5B7E1E8E6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600" dirty="0">
                <a:solidFill>
                  <a:srgbClr val="660874"/>
                </a:solidFill>
              </a:rPr>
              <a:t>Background</a:t>
            </a:r>
            <a:endParaRPr kumimoji="1" lang="zh-CN" altLang="en-US" sz="3600" dirty="0">
              <a:solidFill>
                <a:srgbClr val="660874"/>
              </a:solidFill>
            </a:endParaRPr>
          </a:p>
        </p:txBody>
      </p:sp>
      <p:sp>
        <p:nvSpPr>
          <p:cNvPr id="5" name="TextBox 11">
            <a:extLst>
              <a:ext uri="{FF2B5EF4-FFF2-40B4-BE49-F238E27FC236}">
                <a16:creationId xmlns:a16="http://schemas.microsoft.com/office/drawing/2014/main" id="{CF00848F-227B-4F2D-E644-6395184E14BC}"/>
              </a:ext>
            </a:extLst>
          </p:cNvPr>
          <p:cNvSpPr txBox="1"/>
          <p:nvPr/>
        </p:nvSpPr>
        <p:spPr>
          <a:xfrm>
            <a:off x="373627" y="861265"/>
            <a:ext cx="114022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Long-context LLMs are powerful but computationally expensive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页脚占位符 4">
                <a:extLst>
                  <a:ext uri="{FF2B5EF4-FFF2-40B4-BE49-F238E27FC236}">
                    <a16:creationId xmlns:a16="http://schemas.microsoft.com/office/drawing/2014/main" id="{6ED49AFE-9A8C-5010-EA05-0EE9169D581E}"/>
                  </a:ext>
                </a:extLst>
              </p:cNvPr>
              <p:cNvSpPr>
                <a:spLocks noGrp="1"/>
              </p:cNvSpPr>
              <p:nvPr>
                <p:ph type="ftr" sz="quarter" idx="11"/>
              </p:nvPr>
            </p:nvSpPr>
            <p:spPr>
              <a:xfrm>
                <a:off x="0" y="6492875"/>
                <a:ext cx="12192000" cy="365125"/>
              </a:xfrm>
              <a:solidFill>
                <a:srgbClr val="6C367D"/>
              </a:solidFill>
            </p:spPr>
            <p:txBody>
              <a:bodyPr/>
              <a:lstStyle>
                <a:lvl1pPr algn="l">
                  <a:defRPr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kumimoji="1" lang="en-US" altLang="zh-CN" dirty="0"/>
                  <a:t>Twilight: Adaptive Attention Sparsity with Hierarchical Top-</a:t>
                </a:r>
                <a14:m>
                  <m:oMath xmlns:m="http://schemas.openxmlformats.org/officeDocument/2006/math">
                    <m:r>
                      <a:rPr kumimoji="1" lang="en-US" altLang="zh-CN" b="1" i="1" smtClean="0"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kumimoji="1" lang="en-US" altLang="zh-CN" dirty="0"/>
                  <a:t> Pruning (</a:t>
                </a:r>
                <a:r>
                  <a:rPr kumimoji="1" lang="en-US" altLang="zh-CN" dirty="0" err="1"/>
                  <a:t>NeurIPS</a:t>
                </a:r>
                <a:r>
                  <a:rPr kumimoji="1" lang="en-US" altLang="zh-CN" dirty="0"/>
                  <a:t> 2025)</a:t>
                </a:r>
                <a:endParaRPr kumimoji="1" lang="zh-CN" altLang="en-US" dirty="0"/>
              </a:p>
            </p:txBody>
          </p:sp>
        </mc:Choice>
        <mc:Fallback xmlns="">
          <p:sp>
            <p:nvSpPr>
              <p:cNvPr id="8" name="页脚占位符 4">
                <a:extLst>
                  <a:ext uri="{FF2B5EF4-FFF2-40B4-BE49-F238E27FC236}">
                    <a16:creationId xmlns:a16="http://schemas.microsoft.com/office/drawing/2014/main" id="{6ED49AFE-9A8C-5010-EA05-0EE9169D58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ftr" sz="quarter" idx="11"/>
              </p:nvPr>
            </p:nvSpPr>
            <p:spPr>
              <a:xfrm>
                <a:off x="0" y="6492875"/>
                <a:ext cx="12192000" cy="365125"/>
              </a:xfrm>
              <a:blipFill>
                <a:blip r:embed="rId3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003DCB5-8FAC-B331-6FCA-5BA3A7115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2AE02-44EE-484B-AF46-D6DF5AA822AE}" type="slidenum">
              <a:rPr kumimoji="1" lang="zh-CN" altLang="en-US" b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fld>
            <a:endParaRPr kumimoji="1"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内容占位符 2">
            <a:extLst>
              <a:ext uri="{FF2B5EF4-FFF2-40B4-BE49-F238E27FC236}">
                <a16:creationId xmlns:a16="http://schemas.microsoft.com/office/drawing/2014/main" id="{57F73C37-75F8-BE07-1544-F21BB92FD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626" y="1410159"/>
            <a:ext cx="10980173" cy="1215054"/>
          </a:xfrm>
        </p:spPr>
        <p:txBody>
          <a:bodyPr>
            <a:normAutofit/>
          </a:bodyPr>
          <a:lstStyle/>
          <a:p>
            <a:pPr>
              <a:buClr>
                <a:srgbClr val="6C367D"/>
              </a:buClr>
            </a:pPr>
            <a:r>
              <a:rPr kumimoji="1"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Trend: </a:t>
            </a:r>
            <a:r>
              <a:rPr kumimoji="1" lang="en-US" altLang="zh-CN" sz="1800" dirty="0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Long Context </a:t>
            </a:r>
            <a:r>
              <a:rPr kumimoji="1"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windows are becoming the new standard for state-of-the-art LLMs, especially for reasoning models.</a:t>
            </a:r>
          </a:p>
          <a:p>
            <a:r>
              <a:rPr kumimoji="1"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For long</a:t>
            </a: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context</a:t>
            </a: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LLM</a:t>
            </a: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inference, </a:t>
            </a:r>
            <a:r>
              <a:rPr kumimoji="1" lang="en-US" altLang="zh-CN" sz="1800" dirty="0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attention</a:t>
            </a:r>
            <a:r>
              <a:rPr kumimoji="1" lang="en-US" altLang="zh-CN" sz="1800" dirty="0">
                <a:solidFill>
                  <a:srgbClr val="6C36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dominates the latency. </a:t>
            </a:r>
          </a:p>
          <a:p>
            <a:endParaRPr kumimoji="1"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kumimoji="1"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ADF1303-42B4-E61F-A814-D096E1D98DB1}"/>
              </a:ext>
            </a:extLst>
          </p:cNvPr>
          <p:cNvSpPr txBox="1"/>
          <p:nvPr/>
        </p:nvSpPr>
        <p:spPr>
          <a:xfrm>
            <a:off x="563499" y="5263630"/>
            <a:ext cx="6826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Reasoning tasks like AIME cost nearly 1M tokens </a:t>
            </a:r>
            <a:endParaRPr kumimoji="1"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9E4FCB10-344A-7231-83F2-7F0919E741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626" y="3091221"/>
            <a:ext cx="7206117" cy="2172409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A17ECEEB-20AE-F838-A115-FCFD931269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9524" y="3091221"/>
            <a:ext cx="4296314" cy="2087168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36048A70-4E2D-CB22-6A45-03AA6E0CA58D}"/>
              </a:ext>
            </a:extLst>
          </p:cNvPr>
          <p:cNvSpPr txBox="1"/>
          <p:nvPr/>
        </p:nvSpPr>
        <p:spPr>
          <a:xfrm>
            <a:off x="8520853" y="5309796"/>
            <a:ext cx="3255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Attention becomes the bottleneck as the sequence length increases </a:t>
            </a:r>
            <a:endParaRPr kumimoji="1"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9716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D0C296-CA46-5024-70D1-5B7E1E8E6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600" dirty="0">
                <a:solidFill>
                  <a:srgbClr val="660874"/>
                </a:solidFill>
              </a:rPr>
              <a:t>Background</a:t>
            </a:r>
            <a:endParaRPr kumimoji="1" lang="zh-CN" altLang="en-US" sz="3600" dirty="0">
              <a:solidFill>
                <a:srgbClr val="660874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11">
                <a:extLst>
                  <a:ext uri="{FF2B5EF4-FFF2-40B4-BE49-F238E27FC236}">
                    <a16:creationId xmlns:a16="http://schemas.microsoft.com/office/drawing/2014/main" id="{CF00848F-227B-4F2D-E644-6395184E14BC}"/>
                  </a:ext>
                </a:extLst>
              </p:cNvPr>
              <p:cNvSpPr txBox="1"/>
              <p:nvPr/>
            </p:nvSpPr>
            <p:spPr>
              <a:xfrm>
                <a:off x="373627" y="861265"/>
                <a:ext cx="1140226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Top-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𝒌</m:t>
                    </m:r>
                  </m:oMath>
                </a14:m>
                <a:r>
                  <a:rPr 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Sparse Attention to reduce KV cache loading</a:t>
                </a:r>
              </a:p>
            </p:txBody>
          </p:sp>
        </mc:Choice>
        <mc:Fallback xmlns="">
          <p:sp>
            <p:nvSpPr>
              <p:cNvPr id="5" name="TextBox 11">
                <a:extLst>
                  <a:ext uri="{FF2B5EF4-FFF2-40B4-BE49-F238E27FC236}">
                    <a16:creationId xmlns:a16="http://schemas.microsoft.com/office/drawing/2014/main" id="{CF00848F-227B-4F2D-E644-6395184E14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627" y="861265"/>
                <a:ext cx="11402260" cy="461665"/>
              </a:xfrm>
              <a:prstGeom prst="rect">
                <a:avLst/>
              </a:prstGeom>
              <a:blipFill>
                <a:blip r:embed="rId3"/>
                <a:stretch>
                  <a:fillRect l="-802" t="-1052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页脚占位符 4">
                <a:extLst>
                  <a:ext uri="{FF2B5EF4-FFF2-40B4-BE49-F238E27FC236}">
                    <a16:creationId xmlns:a16="http://schemas.microsoft.com/office/drawing/2014/main" id="{6ED49AFE-9A8C-5010-EA05-0EE9169D581E}"/>
                  </a:ext>
                </a:extLst>
              </p:cNvPr>
              <p:cNvSpPr>
                <a:spLocks noGrp="1"/>
              </p:cNvSpPr>
              <p:nvPr>
                <p:ph type="ftr" sz="quarter" idx="11"/>
              </p:nvPr>
            </p:nvSpPr>
            <p:spPr>
              <a:xfrm>
                <a:off x="0" y="6492875"/>
                <a:ext cx="12192000" cy="365125"/>
              </a:xfrm>
              <a:solidFill>
                <a:srgbClr val="6C367D"/>
              </a:solidFill>
            </p:spPr>
            <p:txBody>
              <a:bodyPr/>
              <a:lstStyle>
                <a:lvl1pPr algn="l">
                  <a:defRPr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kumimoji="1" lang="en-US" altLang="zh-CN" dirty="0"/>
                  <a:t>Twilight: Adaptive Attention Sparsity with Hierarchical Top-</a:t>
                </a:r>
                <a14:m>
                  <m:oMath xmlns:m="http://schemas.openxmlformats.org/officeDocument/2006/math">
                    <m:r>
                      <a:rPr kumimoji="1" lang="en-US" altLang="zh-CN" b="1" i="1" smtClean="0"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kumimoji="1" lang="en-US" altLang="zh-CN" dirty="0"/>
                  <a:t> Pruning (</a:t>
                </a:r>
                <a:r>
                  <a:rPr kumimoji="1" lang="en-US" altLang="zh-CN" dirty="0" err="1"/>
                  <a:t>NeurIPS</a:t>
                </a:r>
                <a:r>
                  <a:rPr kumimoji="1" lang="en-US" altLang="zh-CN" dirty="0"/>
                  <a:t> 2025)</a:t>
                </a:r>
                <a:endParaRPr kumimoji="1" lang="zh-CN" altLang="en-US" dirty="0"/>
              </a:p>
            </p:txBody>
          </p:sp>
        </mc:Choice>
        <mc:Fallback xmlns="">
          <p:sp>
            <p:nvSpPr>
              <p:cNvPr id="8" name="页脚占位符 4">
                <a:extLst>
                  <a:ext uri="{FF2B5EF4-FFF2-40B4-BE49-F238E27FC236}">
                    <a16:creationId xmlns:a16="http://schemas.microsoft.com/office/drawing/2014/main" id="{6ED49AFE-9A8C-5010-EA05-0EE9169D58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ftr" sz="quarter" idx="11"/>
              </p:nvPr>
            </p:nvSpPr>
            <p:spPr>
              <a:xfrm>
                <a:off x="0" y="6492875"/>
                <a:ext cx="12192000" cy="365125"/>
              </a:xfrm>
              <a:blipFill>
                <a:blip r:embed="rId4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003DCB5-8FAC-B331-6FCA-5BA3A7115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2AE02-44EE-484B-AF46-D6DF5AA822AE}" type="slidenum">
              <a:rPr kumimoji="1" lang="zh-CN" altLang="en-US" b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fld>
            <a:endParaRPr kumimoji="1"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内容占位符 2">
                <a:extLst>
                  <a:ext uri="{FF2B5EF4-FFF2-40B4-BE49-F238E27FC236}">
                    <a16:creationId xmlns:a16="http://schemas.microsoft.com/office/drawing/2014/main" id="{57F73C37-75F8-BE07-1544-F21BB92FD7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3626" y="1410159"/>
                <a:ext cx="10980173" cy="1215054"/>
              </a:xfrm>
            </p:spPr>
            <p:txBody>
              <a:bodyPr>
                <a:normAutofit/>
              </a:bodyPr>
              <a:lstStyle/>
              <a:p>
                <a:r>
                  <a:rPr kumimoji="1"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Since attention is </a:t>
                </a:r>
                <a:r>
                  <a:rPr kumimoji="1" lang="en-US" altLang="zh-CN" sz="1800" dirty="0">
                    <a:solidFill>
                      <a:srgbClr val="66087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memory-bound</a:t>
                </a:r>
                <a:r>
                  <a:rPr kumimoji="1"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 previous works propose sparse attention, which first estimates attention scores then selectively loads only important tokens.</a:t>
                </a:r>
              </a:p>
              <a:p>
                <a:r>
                  <a:rPr kumimoji="1"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However, the main challenge of top-</a:t>
                </a:r>
                <a14:m>
                  <m:oMath xmlns:m="http://schemas.openxmlformats.org/officeDocument/2006/math">
                    <m:r>
                      <a:rPr kumimoji="1" lang="en-US" altLang="zh-CN" sz="18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𝑘</m:t>
                    </m:r>
                  </m:oMath>
                </a14:m>
                <a:r>
                  <a:rPr kumimoji="1"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sparse attention is to find a </a:t>
                </a:r>
                <a:r>
                  <a:rPr kumimoji="1" lang="en-US" altLang="zh-CN" sz="1800" dirty="0">
                    <a:solidFill>
                      <a:srgbClr val="66087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universally applicable budget </a:t>
                </a:r>
                <a:r>
                  <a:rPr kumimoji="1"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to all scenarios.</a:t>
                </a:r>
              </a:p>
              <a:p>
                <a:endParaRPr kumimoji="1"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17" name="内容占位符 2">
                <a:extLst>
                  <a:ext uri="{FF2B5EF4-FFF2-40B4-BE49-F238E27FC236}">
                    <a16:creationId xmlns:a16="http://schemas.microsoft.com/office/drawing/2014/main" id="{57F73C37-75F8-BE07-1544-F21BB92FD7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3626" y="1410159"/>
                <a:ext cx="10980173" cy="1215054"/>
              </a:xfrm>
              <a:blipFill>
                <a:blip r:embed="rId5"/>
                <a:stretch>
                  <a:fillRect t="-4500" r="-222" b="-7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文本框 19">
            <a:extLst>
              <a:ext uri="{FF2B5EF4-FFF2-40B4-BE49-F238E27FC236}">
                <a16:creationId xmlns:a16="http://schemas.microsoft.com/office/drawing/2014/main" id="{6ADF1303-42B4-E61F-A814-D096E1D98DB1}"/>
              </a:ext>
            </a:extLst>
          </p:cNvPr>
          <p:cNvSpPr txBox="1"/>
          <p:nvPr/>
        </p:nvSpPr>
        <p:spPr>
          <a:xfrm>
            <a:off x="0" y="6215874"/>
            <a:ext cx="89254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Quest: Query-Aware Sparsity for Efficient Long-Context LLM Inference. Tang et al.</a:t>
            </a:r>
            <a:endParaRPr kumimoji="1" lang="zh-CN" altLang="en-US" sz="12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2E98B8F-8F3E-B1D8-2E76-6CC5EBD72D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290" y="3184034"/>
            <a:ext cx="3783179" cy="176008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6420631-F5F0-0F2A-E499-2225E71240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62141" y="3013652"/>
            <a:ext cx="3733695" cy="2109033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33F4A19F-C232-78A6-FC88-3D361838C123}"/>
              </a:ext>
            </a:extLst>
          </p:cNvPr>
          <p:cNvSpPr txBox="1"/>
          <p:nvPr/>
        </p:nvSpPr>
        <p:spPr>
          <a:xfrm>
            <a:off x="659013" y="5231888"/>
            <a:ext cx="2727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Previous work (Quest)</a:t>
            </a:r>
            <a:endParaRPr kumimoji="1"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0FC214A-9F32-A31A-F877-2F1636875550}"/>
              </a:ext>
            </a:extLst>
          </p:cNvPr>
          <p:cNvSpPr txBox="1"/>
          <p:nvPr/>
        </p:nvSpPr>
        <p:spPr>
          <a:xfrm>
            <a:off x="4551400" y="5231888"/>
            <a:ext cx="6883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The best budget choices vary dynamically across different levels.</a:t>
            </a:r>
            <a:endParaRPr kumimoji="1"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4D369B71-4D44-36A9-5C35-5C77865C4E4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10161" y="2997718"/>
            <a:ext cx="3783179" cy="2120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464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D0C296-CA46-5024-70D1-5B7E1E8E6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600" dirty="0">
                <a:solidFill>
                  <a:srgbClr val="660874"/>
                </a:solidFill>
              </a:rPr>
              <a:t>Bringing Top-</a:t>
            </a:r>
            <a:r>
              <a:rPr kumimoji="1" lang="zh-CN" altLang="en-US" sz="3600" dirty="0">
                <a:solidFill>
                  <a:srgbClr val="660874"/>
                </a:solidFill>
              </a:rPr>
              <a:t>𝒑 </a:t>
            </a:r>
            <a:r>
              <a:rPr kumimoji="1" lang="en-US" altLang="zh-CN" sz="3600" dirty="0">
                <a:solidFill>
                  <a:srgbClr val="660874"/>
                </a:solidFill>
              </a:rPr>
              <a:t>Sampling to Sparse Attention</a:t>
            </a:r>
            <a:endParaRPr kumimoji="1" lang="zh-CN" altLang="en-US" sz="3600" dirty="0">
              <a:solidFill>
                <a:srgbClr val="660874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11">
                <a:extLst>
                  <a:ext uri="{FF2B5EF4-FFF2-40B4-BE49-F238E27FC236}">
                    <a16:creationId xmlns:a16="http://schemas.microsoft.com/office/drawing/2014/main" id="{CF00848F-227B-4F2D-E644-6395184E14BC}"/>
                  </a:ext>
                </a:extLst>
              </p:cNvPr>
              <p:cNvSpPr txBox="1"/>
              <p:nvPr/>
            </p:nvSpPr>
            <p:spPr>
              <a:xfrm>
                <a:off x="373627" y="861265"/>
                <a:ext cx="1140226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Top-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𝒑</m:t>
                    </m:r>
                  </m:oMath>
                </a14:m>
                <a:r>
                  <a:rPr 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Sparse Attention is </a:t>
                </a:r>
                <a:r>
                  <a:rPr lang="en-US" altLang="zh-CN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inherently budget-adaptive </a:t>
                </a:r>
                <a:endParaRPr 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" name="TextBox 11">
                <a:extLst>
                  <a:ext uri="{FF2B5EF4-FFF2-40B4-BE49-F238E27FC236}">
                    <a16:creationId xmlns:a16="http://schemas.microsoft.com/office/drawing/2014/main" id="{CF00848F-227B-4F2D-E644-6395184E14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627" y="861265"/>
                <a:ext cx="11402260" cy="461665"/>
              </a:xfrm>
              <a:prstGeom prst="rect">
                <a:avLst/>
              </a:prstGeom>
              <a:blipFill>
                <a:blip r:embed="rId3"/>
                <a:stretch>
                  <a:fillRect l="-802" t="-1052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页脚占位符 4">
                <a:extLst>
                  <a:ext uri="{FF2B5EF4-FFF2-40B4-BE49-F238E27FC236}">
                    <a16:creationId xmlns:a16="http://schemas.microsoft.com/office/drawing/2014/main" id="{6ED49AFE-9A8C-5010-EA05-0EE9169D581E}"/>
                  </a:ext>
                </a:extLst>
              </p:cNvPr>
              <p:cNvSpPr>
                <a:spLocks noGrp="1"/>
              </p:cNvSpPr>
              <p:nvPr>
                <p:ph type="ftr" sz="quarter" idx="11"/>
              </p:nvPr>
            </p:nvSpPr>
            <p:spPr>
              <a:xfrm>
                <a:off x="0" y="6492875"/>
                <a:ext cx="12192000" cy="365125"/>
              </a:xfrm>
              <a:solidFill>
                <a:srgbClr val="6C367D"/>
              </a:solidFill>
            </p:spPr>
            <p:txBody>
              <a:bodyPr/>
              <a:lstStyle>
                <a:lvl1pPr algn="l">
                  <a:defRPr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kumimoji="1" lang="en-US" altLang="zh-CN" dirty="0"/>
                  <a:t>Twilight: Adaptive Attention Sparsity with Hierarchical Top-</a:t>
                </a:r>
                <a14:m>
                  <m:oMath xmlns:m="http://schemas.openxmlformats.org/officeDocument/2006/math">
                    <m:r>
                      <a:rPr kumimoji="1" lang="en-US" altLang="zh-CN" b="1" i="1" smtClean="0"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kumimoji="1" lang="en-US" altLang="zh-CN" dirty="0"/>
                  <a:t> Pruning (</a:t>
                </a:r>
                <a:r>
                  <a:rPr kumimoji="1" lang="en-US" altLang="zh-CN" dirty="0" err="1"/>
                  <a:t>NeurIPS</a:t>
                </a:r>
                <a:r>
                  <a:rPr kumimoji="1" lang="en-US" altLang="zh-CN" dirty="0"/>
                  <a:t> 2025)</a:t>
                </a:r>
                <a:endParaRPr kumimoji="1" lang="zh-CN" altLang="en-US" dirty="0"/>
              </a:p>
            </p:txBody>
          </p:sp>
        </mc:Choice>
        <mc:Fallback xmlns="">
          <p:sp>
            <p:nvSpPr>
              <p:cNvPr id="8" name="页脚占位符 4">
                <a:extLst>
                  <a:ext uri="{FF2B5EF4-FFF2-40B4-BE49-F238E27FC236}">
                    <a16:creationId xmlns:a16="http://schemas.microsoft.com/office/drawing/2014/main" id="{6ED49AFE-9A8C-5010-EA05-0EE9169D58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ftr" sz="quarter" idx="11"/>
              </p:nvPr>
            </p:nvSpPr>
            <p:spPr>
              <a:xfrm>
                <a:off x="0" y="6492875"/>
                <a:ext cx="12192000" cy="365125"/>
              </a:xfrm>
              <a:blipFill>
                <a:blip r:embed="rId4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003DCB5-8FAC-B331-6FCA-5BA3A7115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2AE02-44EE-484B-AF46-D6DF5AA822AE}" type="slidenum">
              <a:rPr kumimoji="1" lang="zh-CN" altLang="en-US" b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fld>
            <a:endParaRPr kumimoji="1"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内容占位符 2">
                <a:extLst>
                  <a:ext uri="{FF2B5EF4-FFF2-40B4-BE49-F238E27FC236}">
                    <a16:creationId xmlns:a16="http://schemas.microsoft.com/office/drawing/2014/main" id="{57F73C37-75F8-BE07-1544-F21BB92FD7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3626" y="1410158"/>
                <a:ext cx="10980173" cy="1374615"/>
              </a:xfrm>
            </p:spPr>
            <p:txBody>
              <a:bodyPr>
                <a:normAutofit/>
              </a:bodyPr>
              <a:lstStyle/>
              <a:p>
                <a:r>
                  <a:rPr kumimoji="1"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We argue that the core reason for budget dynamism is the dynamic nature of the </a:t>
                </a:r>
                <a:r>
                  <a:rPr kumimoji="1" lang="en-US" altLang="zh-CN" sz="1800" dirty="0">
                    <a:solidFill>
                      <a:srgbClr val="66087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attention weight distributions</a:t>
                </a:r>
                <a:r>
                  <a:rPr kumimoji="1"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at runtime, thus propose </a:t>
                </a:r>
                <a:r>
                  <a:rPr kumimoji="1" lang="en-US" altLang="zh-CN" sz="1800" dirty="0">
                    <a:solidFill>
                      <a:srgbClr val="66087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Top-</a:t>
                </a:r>
                <a14:m>
                  <m:oMath xmlns:m="http://schemas.openxmlformats.org/officeDocument/2006/math">
                    <m:r>
                      <a:rPr kumimoji="1" lang="en-US" altLang="zh-CN" sz="1800" b="0" i="1" smtClean="0">
                        <a:solidFill>
                          <a:srgbClr val="660874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𝑝</m:t>
                    </m:r>
                  </m:oMath>
                </a14:m>
                <a:r>
                  <a:rPr kumimoji="1" lang="zh-CN" altLang="en-US" sz="1800" dirty="0">
                    <a:solidFill>
                      <a:srgbClr val="66087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en-US" altLang="zh-CN" sz="1800" dirty="0">
                    <a:solidFill>
                      <a:srgbClr val="66087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Sparse Attention</a:t>
                </a:r>
                <a:r>
                  <a:rPr kumimoji="1"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  <a:r>
                  <a:rPr kumimoji="1" lang="en-US" altLang="zh-CN" sz="1800" dirty="0">
                    <a:solidFill>
                      <a:srgbClr val="6C367D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</a:p>
            </p:txBody>
          </p:sp>
        </mc:Choice>
        <mc:Fallback>
          <p:sp>
            <p:nvSpPr>
              <p:cNvPr id="17" name="内容占位符 2">
                <a:extLst>
                  <a:ext uri="{FF2B5EF4-FFF2-40B4-BE49-F238E27FC236}">
                    <a16:creationId xmlns:a16="http://schemas.microsoft.com/office/drawing/2014/main" id="{57F73C37-75F8-BE07-1544-F21BB92FD7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3626" y="1410158"/>
                <a:ext cx="10980173" cy="1374615"/>
              </a:xfrm>
              <a:blipFill>
                <a:blip r:embed="rId5"/>
                <a:stretch>
                  <a:fillRect t="-39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33F4A19F-C232-78A6-FC88-3D361838C123}"/>
              </a:ext>
            </a:extLst>
          </p:cNvPr>
          <p:cNvSpPr txBox="1"/>
          <p:nvPr/>
        </p:nvSpPr>
        <p:spPr>
          <a:xfrm>
            <a:off x="6871453" y="5164810"/>
            <a:ext cx="49414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Cumulative attention scores of different</a:t>
            </a:r>
          </a:p>
          <a:p>
            <a:pPr algn="ctr"/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budget selections in one example attention head.</a:t>
            </a:r>
            <a:endParaRPr kumimoji="1"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0FC214A-9F32-A31A-F877-2F1636875550}"/>
              </a:ext>
            </a:extLst>
          </p:cNvPr>
          <p:cNvSpPr txBox="1"/>
          <p:nvPr/>
        </p:nvSpPr>
        <p:spPr>
          <a:xfrm>
            <a:off x="-74949" y="5164811"/>
            <a:ext cx="6883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Diverse distributions observed in attention weights of</a:t>
            </a:r>
          </a:p>
          <a:p>
            <a:pPr algn="ctr"/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different attention heads.</a:t>
            </a:r>
            <a:endParaRPr kumimoji="1"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46612151-B1B2-D4E7-375B-DC67199487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48735" y="2672016"/>
            <a:ext cx="4186860" cy="2212316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A1D79BFD-5CAD-545E-8DFA-FE9AFCFCAD6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0728" y="2314775"/>
            <a:ext cx="6435349" cy="939995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976398D6-BF91-FABE-11A3-014A49CF045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3626" y="3311177"/>
            <a:ext cx="5986731" cy="1573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050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D0C296-CA46-5024-70D1-5B7E1E8E6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600" dirty="0">
                <a:solidFill>
                  <a:srgbClr val="660874"/>
                </a:solidFill>
              </a:rPr>
              <a:t>Twilight</a:t>
            </a:r>
            <a:endParaRPr kumimoji="1" lang="zh-CN" altLang="en-US" sz="3600" dirty="0">
              <a:solidFill>
                <a:srgbClr val="660874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页脚占位符 4">
                <a:extLst>
                  <a:ext uri="{FF2B5EF4-FFF2-40B4-BE49-F238E27FC236}">
                    <a16:creationId xmlns:a16="http://schemas.microsoft.com/office/drawing/2014/main" id="{6ED49AFE-9A8C-5010-EA05-0EE9169D581E}"/>
                  </a:ext>
                </a:extLst>
              </p:cNvPr>
              <p:cNvSpPr>
                <a:spLocks noGrp="1"/>
              </p:cNvSpPr>
              <p:nvPr>
                <p:ph type="ftr" sz="quarter" idx="11"/>
              </p:nvPr>
            </p:nvSpPr>
            <p:spPr>
              <a:xfrm>
                <a:off x="0" y="6492875"/>
                <a:ext cx="12192000" cy="365125"/>
              </a:xfrm>
              <a:solidFill>
                <a:srgbClr val="6C367D"/>
              </a:solidFill>
            </p:spPr>
            <p:txBody>
              <a:bodyPr/>
              <a:lstStyle>
                <a:lvl1pPr algn="l">
                  <a:defRPr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kumimoji="1" lang="en-US" altLang="zh-CN" dirty="0"/>
                  <a:t>Twilight: Adaptive Attention Sparsity with Hierarchical Top-</a:t>
                </a:r>
                <a14:m>
                  <m:oMath xmlns:m="http://schemas.openxmlformats.org/officeDocument/2006/math">
                    <m:r>
                      <a:rPr kumimoji="1" lang="en-US" altLang="zh-CN" b="1" i="1" smtClean="0"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kumimoji="1" lang="en-US" altLang="zh-CN" dirty="0"/>
                  <a:t> Pruning (</a:t>
                </a:r>
                <a:r>
                  <a:rPr kumimoji="1" lang="en-US" altLang="zh-CN" dirty="0" err="1"/>
                  <a:t>NeurIPS</a:t>
                </a:r>
                <a:r>
                  <a:rPr kumimoji="1" lang="en-US" altLang="zh-CN" dirty="0"/>
                  <a:t> 2025)</a:t>
                </a:r>
                <a:endParaRPr kumimoji="1" lang="zh-CN" altLang="en-US" dirty="0"/>
              </a:p>
            </p:txBody>
          </p:sp>
        </mc:Choice>
        <mc:Fallback xmlns="">
          <p:sp>
            <p:nvSpPr>
              <p:cNvPr id="8" name="页脚占位符 4">
                <a:extLst>
                  <a:ext uri="{FF2B5EF4-FFF2-40B4-BE49-F238E27FC236}">
                    <a16:creationId xmlns:a16="http://schemas.microsoft.com/office/drawing/2014/main" id="{6ED49AFE-9A8C-5010-EA05-0EE9169D58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ftr" sz="quarter" idx="11"/>
              </p:nvPr>
            </p:nvSpPr>
            <p:spPr>
              <a:xfrm>
                <a:off x="0" y="6492875"/>
                <a:ext cx="12192000" cy="365125"/>
              </a:xfrm>
              <a:blipFill>
                <a:blip r:embed="rId3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003DCB5-8FAC-B331-6FCA-5BA3A7115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2AE02-44EE-484B-AF46-D6DF5AA822AE}" type="slidenum">
              <a:rPr kumimoji="1" lang="zh-CN" altLang="en-US" b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fld>
            <a:endParaRPr kumimoji="1"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内容占位符 2">
                <a:extLst>
                  <a:ext uri="{FF2B5EF4-FFF2-40B4-BE49-F238E27FC236}">
                    <a16:creationId xmlns:a16="http://schemas.microsoft.com/office/drawing/2014/main" id="{57F73C37-75F8-BE07-1544-F21BB92FD7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3627" y="1168720"/>
                <a:ext cx="10980173" cy="1215054"/>
              </a:xfrm>
            </p:spPr>
            <p:txBody>
              <a:bodyPr>
                <a:normAutofit/>
              </a:bodyPr>
              <a:lstStyle/>
              <a:p>
                <a:r>
                  <a:rPr kumimoji="1" lang="en-US" altLang="zh-CN" sz="18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Key Design: </a:t>
                </a:r>
                <a:r>
                  <a:rPr kumimoji="1"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Hierarchical </a:t>
                </a:r>
                <a:r>
                  <a:rPr kumimoji="1" lang="en-US" altLang="zh-CN" sz="1800" dirty="0">
                    <a:solidFill>
                      <a:srgbClr val="66087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Select-then-Prune</a:t>
                </a:r>
                <a:r>
                  <a:rPr kumimoji="1"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architecture as a unified optimizer for all existing top-</a:t>
                </a:r>
                <a14:m>
                  <m:oMath xmlns:m="http://schemas.openxmlformats.org/officeDocument/2006/math">
                    <m:r>
                      <a:rPr kumimoji="1" lang="en-US" altLang="zh-CN" sz="18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𝑘</m:t>
                    </m:r>
                  </m:oMath>
                </a14:m>
                <a:r>
                  <a:rPr kumimoji="1"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based sparse attention methods (denoted as </a:t>
                </a:r>
                <a:r>
                  <a:rPr kumimoji="1" lang="en-US" altLang="zh-CN" sz="1800" i="1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BaseAlgo</a:t>
                </a:r>
                <a:r>
                  <a:rPr kumimoji="1"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).</a:t>
                </a:r>
              </a:p>
              <a:p>
                <a:r>
                  <a:rPr kumimoji="1"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First </a:t>
                </a:r>
                <a:r>
                  <a:rPr kumimoji="1" lang="en-US" altLang="zh-CN" sz="1800" i="1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BaseAlgo</a:t>
                </a:r>
                <a:r>
                  <a:rPr kumimoji="1" lang="en-US" altLang="zh-CN" sz="1800" i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uses a conservative, relatively large budget. Then </a:t>
                </a:r>
                <a:r>
                  <a:rPr kumimoji="1" lang="en-US" altLang="zh-CN" sz="18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Twilight </a:t>
                </a:r>
                <a:r>
                  <a:rPr kumimoji="1"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further prunes them using efficient top-</a:t>
                </a:r>
                <a14:m>
                  <m:oMath xmlns:m="http://schemas.openxmlformats.org/officeDocument/2006/math">
                    <m:r>
                      <a:rPr kumimoji="1" lang="en-US" altLang="zh-CN" sz="18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𝑝</m:t>
                    </m:r>
                  </m:oMath>
                </a14:m>
                <a:r>
                  <a:rPr kumimoji="1"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Pruner.</a:t>
                </a:r>
              </a:p>
            </p:txBody>
          </p:sp>
        </mc:Choice>
        <mc:Fallback>
          <p:sp>
            <p:nvSpPr>
              <p:cNvPr id="17" name="内容占位符 2">
                <a:extLst>
                  <a:ext uri="{FF2B5EF4-FFF2-40B4-BE49-F238E27FC236}">
                    <a16:creationId xmlns:a16="http://schemas.microsoft.com/office/drawing/2014/main" id="{57F73C37-75F8-BE07-1544-F21BB92FD7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3627" y="1168720"/>
                <a:ext cx="10980173" cy="1215054"/>
              </a:xfrm>
              <a:blipFill>
                <a:blip r:embed="rId4"/>
                <a:stretch>
                  <a:fillRect t="-5025" b="-75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图片 11">
            <a:extLst>
              <a:ext uri="{FF2B5EF4-FFF2-40B4-BE49-F238E27FC236}">
                <a16:creationId xmlns:a16="http://schemas.microsoft.com/office/drawing/2014/main" id="{9609C562-8330-150D-11A5-96FE45FBAB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8525" y="2595386"/>
            <a:ext cx="7834950" cy="3685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193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D0C296-CA46-5024-70D1-5B7E1E8E6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600" dirty="0"/>
              <a:t>Twilight</a:t>
            </a:r>
            <a:endParaRPr kumimoji="1" lang="zh-CN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页脚占位符 4">
                <a:extLst>
                  <a:ext uri="{FF2B5EF4-FFF2-40B4-BE49-F238E27FC236}">
                    <a16:creationId xmlns:a16="http://schemas.microsoft.com/office/drawing/2014/main" id="{6ED49AFE-9A8C-5010-EA05-0EE9169D581E}"/>
                  </a:ext>
                </a:extLst>
              </p:cNvPr>
              <p:cNvSpPr>
                <a:spLocks noGrp="1"/>
              </p:cNvSpPr>
              <p:nvPr>
                <p:ph type="ftr" sz="quarter" idx="11"/>
              </p:nvPr>
            </p:nvSpPr>
            <p:spPr>
              <a:xfrm>
                <a:off x="0" y="6492875"/>
                <a:ext cx="12192000" cy="365125"/>
              </a:xfrm>
              <a:solidFill>
                <a:srgbClr val="6C367D"/>
              </a:solidFill>
            </p:spPr>
            <p:txBody>
              <a:bodyPr/>
              <a:lstStyle>
                <a:lvl1pPr algn="l">
                  <a:defRPr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kumimoji="1" lang="en-US" altLang="zh-CN" dirty="0"/>
                  <a:t>Twilight: Adaptive Attention Sparsity with Hierarchical Top-</a:t>
                </a:r>
                <a14:m>
                  <m:oMath xmlns:m="http://schemas.openxmlformats.org/officeDocument/2006/math">
                    <m:r>
                      <a:rPr kumimoji="1" lang="en-US" altLang="zh-CN" b="1" i="1" smtClean="0"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kumimoji="1" lang="en-US" altLang="zh-CN" dirty="0"/>
                  <a:t> Pruning (</a:t>
                </a:r>
                <a:r>
                  <a:rPr kumimoji="1" lang="en-US" altLang="zh-CN" dirty="0" err="1"/>
                  <a:t>NeurIPS</a:t>
                </a:r>
                <a:r>
                  <a:rPr kumimoji="1" lang="en-US" altLang="zh-CN" dirty="0"/>
                  <a:t> 2025)</a:t>
                </a:r>
                <a:endParaRPr kumimoji="1" lang="zh-CN" altLang="en-US" dirty="0"/>
              </a:p>
            </p:txBody>
          </p:sp>
        </mc:Choice>
        <mc:Fallback xmlns="">
          <p:sp>
            <p:nvSpPr>
              <p:cNvPr id="8" name="页脚占位符 4">
                <a:extLst>
                  <a:ext uri="{FF2B5EF4-FFF2-40B4-BE49-F238E27FC236}">
                    <a16:creationId xmlns:a16="http://schemas.microsoft.com/office/drawing/2014/main" id="{6ED49AFE-9A8C-5010-EA05-0EE9169D58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ftr" sz="quarter" idx="11"/>
              </p:nvPr>
            </p:nvSpPr>
            <p:spPr>
              <a:xfrm>
                <a:off x="0" y="6492875"/>
                <a:ext cx="12192000" cy="365125"/>
              </a:xfrm>
              <a:blipFill>
                <a:blip r:embed="rId3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003DCB5-8FAC-B331-6FCA-5BA3A7115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2AE02-44EE-484B-AF46-D6DF5AA822AE}" type="slidenum">
              <a:rPr kumimoji="1" lang="zh-CN" altLang="en-US" b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fld>
            <a:endParaRPr kumimoji="1"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11">
            <a:extLst>
              <a:ext uri="{FF2B5EF4-FFF2-40B4-BE49-F238E27FC236}">
                <a16:creationId xmlns:a16="http://schemas.microsoft.com/office/drawing/2014/main" id="{A780FCCC-056A-E236-5F1A-E6880662B549}"/>
              </a:ext>
            </a:extLst>
          </p:cNvPr>
          <p:cNvSpPr txBox="1"/>
          <p:nvPr/>
        </p:nvSpPr>
        <p:spPr>
          <a:xfrm>
            <a:off x="373627" y="861265"/>
            <a:ext cx="114022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 Achieve the Efficient Pruner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73086A6B-38C3-7C7A-0358-B2D33EE0E22D}"/>
              </a:ext>
            </a:extLst>
          </p:cNvPr>
          <p:cNvSpPr txBox="1">
            <a:spLocks/>
          </p:cNvSpPr>
          <p:nvPr/>
        </p:nvSpPr>
        <p:spPr>
          <a:xfrm>
            <a:off x="373626" y="1410158"/>
            <a:ext cx="10980173" cy="13746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6C367D"/>
              </a:buClr>
              <a:buSzPct val="50000"/>
              <a:buFont typeface="Wingdings" panose="05000000000000000000" pitchFamily="2" charset="2"/>
              <a:buChar char=""/>
              <a:defRPr sz="2800" kern="1200">
                <a:solidFill>
                  <a:schemeClr val="tx1"/>
                </a:solidFill>
                <a:latin typeface="Alibaba Sans" panose="020B0503020203040204" pitchFamily="34" charset="0"/>
                <a:ea typeface="SimHei" panose="02010609060101010101" pitchFamily="49" charset="-122"/>
                <a:cs typeface="Alibaba Sans" panose="020B050302020304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libaba Sans" panose="020B0503020203040204" pitchFamily="34" charset="0"/>
                <a:ea typeface="SimHei" panose="02010609060101010101" pitchFamily="49" charset="-122"/>
                <a:cs typeface="Alibaba Sans" panose="020B050302020304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libaba Sans" panose="020B0503020203040204" pitchFamily="34" charset="0"/>
                <a:ea typeface="SimHei" panose="02010609060101010101" pitchFamily="49" charset="-122"/>
                <a:cs typeface="Alibaba Sans" panose="020B0503020203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libaba Sans" panose="020B0503020203040204" pitchFamily="34" charset="0"/>
                <a:ea typeface="SimHei" panose="02010609060101010101" pitchFamily="49" charset="-122"/>
                <a:cs typeface="Alibaba Sans" panose="020B0503020203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libaba Sans" panose="020B0503020203040204" pitchFamily="34" charset="0"/>
                <a:ea typeface="SimHei" panose="02010609060101010101" pitchFamily="49" charset="-122"/>
                <a:cs typeface="Alibaba Sans" panose="020B0503020203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1800" dirty="0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Efficient </a:t>
            </a:r>
            <a:r>
              <a:rPr kumimoji="1" lang="en-US" altLang="zh-CN" sz="1800" dirty="0" err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SpGEMV</a:t>
            </a:r>
            <a:r>
              <a:rPr kumimoji="1" lang="en-US" altLang="zh-CN" sz="1800" dirty="0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with 4-bit Quantization of Key Cache </a:t>
            </a:r>
            <a:r>
              <a:rPr kumimoji="1"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 estimate token importance: we find that 4-bit strikes a balance between accuracy and efficiency.</a:t>
            </a:r>
          </a:p>
          <a:p>
            <a:r>
              <a:rPr kumimoji="1" lang="en-US" altLang="zh-CN" sz="1800" dirty="0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Efficient Sorting-free Top-p</a:t>
            </a:r>
            <a:r>
              <a:rPr kumimoji="1" lang="en-US" altLang="zh-CN" sz="1800" dirty="0">
                <a:solidFill>
                  <a:srgbClr val="6C36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via binary search modified from </a:t>
            </a:r>
            <a:r>
              <a:rPr kumimoji="1"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FlashInfer</a:t>
            </a:r>
            <a:r>
              <a:rPr kumimoji="1"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  <a:p>
            <a:r>
              <a:rPr kumimoji="1" lang="en-US" altLang="zh-CN" sz="1800" dirty="0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Load Balancing with Awareness of Head Dynamism </a:t>
            </a:r>
            <a:r>
              <a:rPr kumimoji="1"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with GQA adaption.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876613F9-414F-B232-6AD5-11767A2360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804" y="2992979"/>
            <a:ext cx="2756487" cy="1566461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C80C344C-903A-1D82-E9B3-D7B7E6C673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2362" y="2833681"/>
            <a:ext cx="3634455" cy="3145889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CF4393C4-5454-4B48-548A-B51CC906F4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000" y="4559440"/>
            <a:ext cx="2951844" cy="1432898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AA774925-455B-722C-8D68-2307F656D51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03335" y="3595034"/>
            <a:ext cx="4286249" cy="1928812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D97F7009-6202-C68F-A048-DEAEEE8694B9}"/>
              </a:ext>
            </a:extLst>
          </p:cNvPr>
          <p:cNvSpPr txBox="1"/>
          <p:nvPr/>
        </p:nvSpPr>
        <p:spPr>
          <a:xfrm>
            <a:off x="0" y="6215874"/>
            <a:ext cx="89254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FlashInfer</a:t>
            </a:r>
            <a:r>
              <a:rPr kumimoji="1" lang="en-US" altLang="zh-CN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: Efficient and Customizable Attention Engine for LLM Inference Serving. Ye et al.</a:t>
            </a:r>
            <a:endParaRPr kumimoji="1" lang="zh-CN" altLang="en-US" sz="12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7434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D0C296-CA46-5024-70D1-5B7E1E8E6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600" dirty="0">
                <a:solidFill>
                  <a:srgbClr val="660874"/>
                </a:solidFill>
              </a:rPr>
              <a:t>Accuracy Evaluation</a:t>
            </a:r>
            <a:endParaRPr kumimoji="1" lang="zh-CN" altLang="en-US" sz="3600" dirty="0">
              <a:solidFill>
                <a:srgbClr val="660874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页脚占位符 4">
                <a:extLst>
                  <a:ext uri="{FF2B5EF4-FFF2-40B4-BE49-F238E27FC236}">
                    <a16:creationId xmlns:a16="http://schemas.microsoft.com/office/drawing/2014/main" id="{6ED49AFE-9A8C-5010-EA05-0EE9169D581E}"/>
                  </a:ext>
                </a:extLst>
              </p:cNvPr>
              <p:cNvSpPr>
                <a:spLocks noGrp="1"/>
              </p:cNvSpPr>
              <p:nvPr>
                <p:ph type="ftr" sz="quarter" idx="11"/>
              </p:nvPr>
            </p:nvSpPr>
            <p:spPr>
              <a:xfrm>
                <a:off x="0" y="6492875"/>
                <a:ext cx="12192000" cy="365125"/>
              </a:xfrm>
              <a:solidFill>
                <a:srgbClr val="6C367D"/>
              </a:solidFill>
            </p:spPr>
            <p:txBody>
              <a:bodyPr/>
              <a:lstStyle>
                <a:lvl1pPr algn="l">
                  <a:defRPr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kumimoji="1" lang="en-US" altLang="zh-CN" dirty="0"/>
                  <a:t>Twilight: Adaptive Attention Sparsity with Hierarchical Top-</a:t>
                </a:r>
                <a14:m>
                  <m:oMath xmlns:m="http://schemas.openxmlformats.org/officeDocument/2006/math">
                    <m:r>
                      <a:rPr kumimoji="1" lang="en-US" altLang="zh-CN" b="1" i="1" smtClean="0"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kumimoji="1" lang="en-US" altLang="zh-CN" dirty="0"/>
                  <a:t> Pruning (</a:t>
                </a:r>
                <a:r>
                  <a:rPr kumimoji="1" lang="en-US" altLang="zh-CN" dirty="0" err="1"/>
                  <a:t>NeurIPS</a:t>
                </a:r>
                <a:r>
                  <a:rPr kumimoji="1" lang="en-US" altLang="zh-CN" dirty="0"/>
                  <a:t> 2025)</a:t>
                </a:r>
                <a:endParaRPr kumimoji="1" lang="zh-CN" altLang="en-US" dirty="0"/>
              </a:p>
            </p:txBody>
          </p:sp>
        </mc:Choice>
        <mc:Fallback xmlns="">
          <p:sp>
            <p:nvSpPr>
              <p:cNvPr id="8" name="页脚占位符 4">
                <a:extLst>
                  <a:ext uri="{FF2B5EF4-FFF2-40B4-BE49-F238E27FC236}">
                    <a16:creationId xmlns:a16="http://schemas.microsoft.com/office/drawing/2014/main" id="{6ED49AFE-9A8C-5010-EA05-0EE9169D58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ftr" sz="quarter" idx="11"/>
              </p:nvPr>
            </p:nvSpPr>
            <p:spPr>
              <a:xfrm>
                <a:off x="0" y="6492875"/>
                <a:ext cx="12192000" cy="365125"/>
              </a:xfrm>
              <a:blipFill>
                <a:blip r:embed="rId3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003DCB5-8FAC-B331-6FCA-5BA3A7115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2AE02-44EE-484B-AF46-D6DF5AA822AE}" type="slidenum">
              <a:rPr kumimoji="1" lang="zh-CN" altLang="en-US" b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fld>
            <a:endParaRPr kumimoji="1"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内容占位符 2">
            <a:extLst>
              <a:ext uri="{FF2B5EF4-FFF2-40B4-BE49-F238E27FC236}">
                <a16:creationId xmlns:a16="http://schemas.microsoft.com/office/drawing/2014/main" id="{57F73C37-75F8-BE07-1544-F21BB92FD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627" y="1162812"/>
            <a:ext cx="10980173" cy="838516"/>
          </a:xfrm>
        </p:spPr>
        <p:txBody>
          <a:bodyPr>
            <a:normAutofit/>
          </a:bodyPr>
          <a:lstStyle/>
          <a:p>
            <a:r>
              <a:rPr kumimoji="1"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Twilight achieves nearly </a:t>
            </a:r>
            <a:r>
              <a:rPr kumimoji="1" lang="en-US" altLang="zh-CN" sz="1800" b="1" dirty="0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 accuracy loss</a:t>
            </a:r>
            <a:r>
              <a:rPr kumimoji="1" lang="en-US" altLang="zh-CN" sz="1800" dirty="0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on three medium-context benchmarks and two long-context benchmarks (</a:t>
            </a:r>
            <a:r>
              <a:rPr kumimoji="1"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LongBench</a:t>
            </a:r>
            <a:r>
              <a:rPr kumimoji="1"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RULER).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7D9710A8-E247-45F5-EB21-49C8A437E8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3506" y="2569758"/>
            <a:ext cx="7583911" cy="2616155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D4AF0161-A872-12A6-9E9A-7BDA4A8128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309" y="2205749"/>
            <a:ext cx="3418838" cy="3344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9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D0C296-CA46-5024-70D1-5B7E1E8E6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600" dirty="0"/>
              <a:t>Efficiency Evaluation</a:t>
            </a:r>
            <a:endParaRPr kumimoji="1" lang="zh-CN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页脚占位符 4">
                <a:extLst>
                  <a:ext uri="{FF2B5EF4-FFF2-40B4-BE49-F238E27FC236}">
                    <a16:creationId xmlns:a16="http://schemas.microsoft.com/office/drawing/2014/main" id="{6ED49AFE-9A8C-5010-EA05-0EE9169D581E}"/>
                  </a:ext>
                </a:extLst>
              </p:cNvPr>
              <p:cNvSpPr>
                <a:spLocks noGrp="1"/>
              </p:cNvSpPr>
              <p:nvPr>
                <p:ph type="ftr" sz="quarter" idx="11"/>
              </p:nvPr>
            </p:nvSpPr>
            <p:spPr>
              <a:xfrm>
                <a:off x="0" y="6492875"/>
                <a:ext cx="12192000" cy="365125"/>
              </a:xfrm>
              <a:solidFill>
                <a:srgbClr val="6C367D"/>
              </a:solidFill>
            </p:spPr>
            <p:txBody>
              <a:bodyPr/>
              <a:lstStyle>
                <a:lvl1pPr algn="l">
                  <a:defRPr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kumimoji="1" lang="en-US" altLang="zh-CN" dirty="0"/>
                  <a:t>Twilight: Adaptive Attention Sparsity with Hierarchical Top-</a:t>
                </a:r>
                <a14:m>
                  <m:oMath xmlns:m="http://schemas.openxmlformats.org/officeDocument/2006/math">
                    <m:r>
                      <a:rPr kumimoji="1" lang="en-US" altLang="zh-CN" b="1" i="1" smtClean="0"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kumimoji="1" lang="en-US" altLang="zh-CN" dirty="0"/>
                  <a:t> Pruning (</a:t>
                </a:r>
                <a:r>
                  <a:rPr kumimoji="1" lang="en-US" altLang="zh-CN" dirty="0" err="1"/>
                  <a:t>NeurIPS</a:t>
                </a:r>
                <a:r>
                  <a:rPr kumimoji="1" lang="en-US" altLang="zh-CN" dirty="0"/>
                  <a:t> 2025)</a:t>
                </a:r>
                <a:endParaRPr kumimoji="1" lang="zh-CN" altLang="en-US" dirty="0"/>
              </a:p>
            </p:txBody>
          </p:sp>
        </mc:Choice>
        <mc:Fallback xmlns="">
          <p:sp>
            <p:nvSpPr>
              <p:cNvPr id="8" name="页脚占位符 4">
                <a:extLst>
                  <a:ext uri="{FF2B5EF4-FFF2-40B4-BE49-F238E27FC236}">
                    <a16:creationId xmlns:a16="http://schemas.microsoft.com/office/drawing/2014/main" id="{6ED49AFE-9A8C-5010-EA05-0EE9169D58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ftr" sz="quarter" idx="11"/>
              </p:nvPr>
            </p:nvSpPr>
            <p:spPr>
              <a:xfrm>
                <a:off x="0" y="6492875"/>
                <a:ext cx="12192000" cy="365125"/>
              </a:xfrm>
              <a:blipFill>
                <a:blip r:embed="rId3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003DCB5-8FAC-B331-6FCA-5BA3A7115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2AE02-44EE-484B-AF46-D6DF5AA822AE}" type="slidenum">
              <a:rPr kumimoji="1" lang="zh-CN" altLang="en-US" b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fld>
            <a:endParaRPr kumimoji="1"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内容占位符 2">
                <a:extLst>
                  <a:ext uri="{FF2B5EF4-FFF2-40B4-BE49-F238E27FC236}">
                    <a16:creationId xmlns:a16="http://schemas.microsoft.com/office/drawing/2014/main" id="{57F73C37-75F8-BE07-1544-F21BB92FD7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3627" y="1162811"/>
                <a:ext cx="11726358" cy="1028297"/>
              </a:xfrm>
            </p:spPr>
            <p:txBody>
              <a:bodyPr>
                <a:normAutofit/>
              </a:bodyPr>
              <a:lstStyle/>
              <a:p>
                <a:r>
                  <a:rPr kumimoji="1"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Twilight accelerates self-attention operator by </a:t>
                </a:r>
                <a:r>
                  <a:rPr kumimoji="1" lang="en-US" altLang="zh-CN" sz="1800" dirty="0">
                    <a:solidFill>
                      <a:srgbClr val="66087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2.4</a:t>
                </a:r>
                <a14:m>
                  <m:oMath xmlns:m="http://schemas.openxmlformats.org/officeDocument/2006/math">
                    <m:r>
                      <a:rPr kumimoji="1" lang="en-US" altLang="zh-CN" sz="1800" b="0" i="1" smtClean="0">
                        <a:solidFill>
                          <a:srgbClr val="660874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×</m:t>
                    </m:r>
                  </m:oMath>
                </a14:m>
                <a:r>
                  <a:rPr kumimoji="1" lang="en-US" altLang="zh-CN" sz="1800" b="0" dirty="0">
                    <a:solidFill>
                      <a:srgbClr val="66087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en-US" altLang="zh-CN" sz="1800" b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(FlashInfer) and </a:t>
                </a:r>
                <a:r>
                  <a:rPr kumimoji="1" lang="en-US" altLang="zh-CN" sz="1800" b="0" dirty="0">
                    <a:solidFill>
                      <a:srgbClr val="66087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1.4</a:t>
                </a:r>
                <a14:m>
                  <m:oMath xmlns:m="http://schemas.openxmlformats.org/officeDocument/2006/math">
                    <m:r>
                      <a:rPr kumimoji="1" lang="en-US" altLang="zh-CN" sz="1800" b="0" i="1" smtClean="0">
                        <a:solidFill>
                          <a:srgbClr val="660874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×</m:t>
                    </m:r>
                    <m:r>
                      <a:rPr kumimoji="1" lang="en-US" altLang="zh-CN" sz="1800" b="0" i="1" smtClean="0">
                        <a:solidFill>
                          <a:srgbClr val="6C367D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</m:oMath>
                </a14:m>
                <a:r>
                  <a:rPr kumimoji="1" lang="en-US" altLang="zh-CN" sz="1800" b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(Quest)</a:t>
                </a:r>
                <a:r>
                  <a:rPr kumimoji="1"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at batch size=64</a:t>
                </a:r>
              </a:p>
              <a:p>
                <a:r>
                  <a:rPr kumimoji="1" lang="en-US" altLang="zh-CN" sz="1800" b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And for E2E </a:t>
                </a:r>
                <a:r>
                  <a:rPr kumimoji="1"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per-token latency, Quest-Twi is </a:t>
                </a:r>
                <a:r>
                  <a:rPr kumimoji="1" lang="en-US" altLang="zh-CN" sz="1800" dirty="0">
                    <a:solidFill>
                      <a:srgbClr val="66087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3.9</a:t>
                </a:r>
                <a14:m>
                  <m:oMath xmlns:m="http://schemas.openxmlformats.org/officeDocument/2006/math">
                    <m:r>
                      <a:rPr kumimoji="1" lang="en-US" altLang="zh-CN" sz="1800" b="0" i="1" smtClean="0">
                        <a:solidFill>
                          <a:srgbClr val="660874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×</m:t>
                    </m:r>
                  </m:oMath>
                </a14:m>
                <a:r>
                  <a:rPr kumimoji="1" lang="en-US" altLang="zh-CN" sz="1800" b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compared to </a:t>
                </a:r>
                <a:r>
                  <a:rPr kumimoji="1" lang="en-US" altLang="zh-CN" sz="1800" b="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FlashInfer</a:t>
                </a:r>
                <a:r>
                  <a:rPr kumimoji="1" lang="en-US" altLang="zh-CN" sz="1800" b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and </a:t>
                </a:r>
                <a:r>
                  <a:rPr kumimoji="1" lang="en-US" altLang="zh-CN" sz="1800" b="0" dirty="0">
                    <a:solidFill>
                      <a:srgbClr val="66087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1.35</a:t>
                </a:r>
                <a14:m>
                  <m:oMath xmlns:m="http://schemas.openxmlformats.org/officeDocument/2006/math">
                    <m:r>
                      <a:rPr kumimoji="1" lang="en-US" altLang="zh-CN" sz="1800" b="0" i="1" smtClean="0">
                        <a:solidFill>
                          <a:srgbClr val="660874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×</m:t>
                    </m:r>
                  </m:oMath>
                </a14:m>
                <a:r>
                  <a:rPr kumimoji="1" lang="en-US" altLang="zh-CN" sz="1800" b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to Quest at batch size=256.</a:t>
                </a:r>
              </a:p>
              <a:p>
                <a:endParaRPr kumimoji="1" lang="en-US" altLang="zh-CN" sz="1800" b="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kumimoji="1" lang="en-US" altLang="zh-CN" sz="1800" b="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/>
                <a:endParaRPr kumimoji="1" lang="en-US" altLang="zh-CN" sz="1400" b="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kumimoji="1"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17" name="内容占位符 2">
                <a:extLst>
                  <a:ext uri="{FF2B5EF4-FFF2-40B4-BE49-F238E27FC236}">
                    <a16:creationId xmlns:a16="http://schemas.microsoft.com/office/drawing/2014/main" id="{57F73C37-75F8-BE07-1544-F21BB92FD7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3627" y="1162811"/>
                <a:ext cx="11726358" cy="1028297"/>
              </a:xfrm>
              <a:blipFill>
                <a:blip r:embed="rId4"/>
                <a:stretch>
                  <a:fillRect t="-5952" b="-29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070CE580-9A50-F010-42E7-3BBE06EB44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7751" y="1978138"/>
            <a:ext cx="6441057" cy="225521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A1115A3-45B1-0974-E860-CDDC91FFD7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47267" y="4233350"/>
            <a:ext cx="6432892" cy="2255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8104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54F140-71BE-67E4-9C52-F6F70E1DD73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50862" y="3117999"/>
            <a:ext cx="11090275" cy="1990725"/>
          </a:xfrm>
        </p:spPr>
        <p:txBody>
          <a:bodyPr>
            <a:normAutofit/>
          </a:bodyPr>
          <a:lstStyle/>
          <a:p>
            <a:r>
              <a:rPr kumimoji="1" lang="en-US" altLang="zh-CN" b="1" dirty="0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Thanks for Listening</a:t>
            </a:r>
            <a:b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b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kumimoji="1" lang="en-US" altLang="zh-CN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Sans Medium" panose="020B0503020203040204" pitchFamily="34" charset="0"/>
              </a:rPr>
              <a:t>Chaofan Lin</a:t>
            </a:r>
            <a:br>
              <a:rPr kumimoji="1" lang="en-US" altLang="zh-CN" sz="18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Sans Medium" panose="020B0503020203040204" pitchFamily="34" charset="0"/>
              </a:rPr>
            </a:br>
            <a:r>
              <a:rPr kumimoji="1" lang="en-US" altLang="zh-CN" sz="18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Sans Medium" panose="020B0503020203040204" pitchFamily="34" charset="0"/>
              </a:rPr>
              <a:t>lcf24@mails.tsinghua.edu.cn</a:t>
            </a:r>
            <a:endParaRPr kumimoji="1" lang="zh-CN" altLang="en-US" sz="18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libaba Sans Medium" panose="020B0503020203040204" pitchFamily="34" charset="0"/>
            </a:endParaRPr>
          </a:p>
        </p:txBody>
      </p:sp>
      <p:pic>
        <p:nvPicPr>
          <p:cNvPr id="6" name="图片 5" descr="图片包含 文本">
            <a:extLst>
              <a:ext uri="{FF2B5EF4-FFF2-40B4-BE49-F238E27FC236}">
                <a16:creationId xmlns:a16="http://schemas.microsoft.com/office/drawing/2014/main" id="{57B42AA6-E463-3BF5-6DD3-299EBD931C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841" t="25347" r="18874" b="22889"/>
          <a:stretch/>
        </p:blipFill>
        <p:spPr>
          <a:xfrm>
            <a:off x="8615677" y="5275371"/>
            <a:ext cx="2892724" cy="982952"/>
          </a:xfrm>
          <a:prstGeom prst="rect">
            <a:avLst/>
          </a:prstGeom>
        </p:spPr>
      </p:pic>
      <p:sp>
        <p:nvSpPr>
          <p:cNvPr id="8" name="标题 1">
            <a:extLst>
              <a:ext uri="{FF2B5EF4-FFF2-40B4-BE49-F238E27FC236}">
                <a16:creationId xmlns:a16="http://schemas.microsoft.com/office/drawing/2014/main" id="{91EF8CDD-FCC9-B296-2050-BBC68591D7AF}"/>
              </a:ext>
            </a:extLst>
          </p:cNvPr>
          <p:cNvSpPr txBox="1">
            <a:spLocks/>
          </p:cNvSpPr>
          <p:nvPr/>
        </p:nvSpPr>
        <p:spPr>
          <a:xfrm>
            <a:off x="550861" y="960627"/>
            <a:ext cx="11090275" cy="19907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Alibaba Sans Medium" panose="020B050302020304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内容占位符 2">
                <a:extLst>
                  <a:ext uri="{FF2B5EF4-FFF2-40B4-BE49-F238E27FC236}">
                    <a16:creationId xmlns:a16="http://schemas.microsoft.com/office/drawing/2014/main" id="{F974D2CB-803A-4912-22D6-D1E0336A4DD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50861" y="960627"/>
                <a:ext cx="10980173" cy="199072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Clr>
                    <a:srgbClr val="6C367D"/>
                  </a:buClr>
                  <a:buSzPct val="50000"/>
                  <a:buFont typeface="Wingdings" panose="05000000000000000000" pitchFamily="2" charset="2"/>
                  <a:buChar char="q"/>
                </a:pPr>
                <a:r>
                  <a:rPr kumimoji="1"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We propose Twilight, a composable optimizer to accelerate any existing top-</a:t>
                </a:r>
                <a14:m>
                  <m:oMath xmlns:m="http://schemas.openxmlformats.org/officeDocument/2006/math">
                    <m:r>
                      <a:rPr kumimoji="1" lang="en-US" altLang="zh-CN" sz="18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𝑘</m:t>
                    </m:r>
                  </m:oMath>
                </a14:m>
                <a:r>
                  <a:rPr kumimoji="1"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sparse decoding methods through </a:t>
                </a:r>
                <a:r>
                  <a:rPr kumimoji="1" lang="en-US" altLang="zh-CN" sz="1800" b="1" dirty="0">
                    <a:solidFill>
                      <a:srgbClr val="66087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hierarchical top-</a:t>
                </a:r>
                <a14:m>
                  <m:oMath xmlns:m="http://schemas.openxmlformats.org/officeDocument/2006/math">
                    <m:r>
                      <a:rPr kumimoji="1" lang="en-US" altLang="zh-CN" sz="1800" b="1" i="1" dirty="0" smtClean="0">
                        <a:solidFill>
                          <a:srgbClr val="660874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𝒑</m:t>
                    </m:r>
                    <m:r>
                      <a:rPr kumimoji="1" lang="en-US" altLang="zh-CN" sz="1800" b="1" i="1" dirty="0" smtClean="0">
                        <a:solidFill>
                          <a:srgbClr val="660874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</m:oMath>
                </a14:m>
                <a:r>
                  <a:rPr kumimoji="1" lang="en-US" altLang="zh-CN" sz="1800" b="1" dirty="0">
                    <a:solidFill>
                      <a:srgbClr val="66087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pruning</a:t>
                </a:r>
                <a:r>
                  <a:rPr kumimoji="1"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 making them </a:t>
                </a:r>
                <a:r>
                  <a:rPr kumimoji="1" lang="en-US" altLang="zh-CN" sz="1800" b="1" dirty="0">
                    <a:solidFill>
                      <a:srgbClr val="66087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efficient and budget-adaptive</a:t>
                </a:r>
                <a:r>
                  <a:rPr kumimoji="1"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 </a:t>
                </a:r>
              </a:p>
              <a:p>
                <a:pPr>
                  <a:buClr>
                    <a:srgbClr val="6C367D"/>
                  </a:buClr>
                  <a:buSzPct val="50000"/>
                  <a:buFont typeface="Wingdings" panose="05000000000000000000" pitchFamily="2" charset="2"/>
                  <a:buChar char="q"/>
                </a:pPr>
                <a:r>
                  <a:rPr kumimoji="1"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Paper: </a:t>
                </a:r>
                <a:r>
                  <a:rPr kumimoji="1" lang="en-US" altLang="zh-CN" sz="1800" dirty="0">
                    <a:solidFill>
                      <a:srgbClr val="66087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https://arxiv.org/abs/2502.02770</a:t>
                </a:r>
              </a:p>
              <a:p>
                <a:pPr>
                  <a:buClr>
                    <a:srgbClr val="6C367D"/>
                  </a:buClr>
                  <a:buSzPct val="50000"/>
                  <a:buFont typeface="Wingdings" panose="05000000000000000000" pitchFamily="2" charset="2"/>
                  <a:buChar char="q"/>
                </a:pPr>
                <a:r>
                  <a:rPr kumimoji="1"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Code: </a:t>
                </a:r>
                <a:r>
                  <a:rPr kumimoji="1" lang="en-US" altLang="zh-CN" sz="1800" dirty="0">
                    <a:solidFill>
                      <a:srgbClr val="66087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https://github.com/tsinghua-ideal/Twilight</a:t>
                </a:r>
              </a:p>
              <a:p>
                <a:pPr>
                  <a:buClr>
                    <a:srgbClr val="6C367D"/>
                  </a:buClr>
                  <a:buSzPct val="50000"/>
                  <a:buFont typeface="Wingdings" panose="05000000000000000000" pitchFamily="2" charset="2"/>
                  <a:buChar char="q"/>
                </a:pPr>
                <a:endParaRPr kumimoji="1"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10" name="内容占位符 2">
                <a:extLst>
                  <a:ext uri="{FF2B5EF4-FFF2-40B4-BE49-F238E27FC236}">
                    <a16:creationId xmlns:a16="http://schemas.microsoft.com/office/drawing/2014/main" id="{F974D2CB-803A-4912-22D6-D1E0336A4D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861" y="960627"/>
                <a:ext cx="10980173" cy="1990725"/>
              </a:xfrm>
              <a:prstGeom prst="rect">
                <a:avLst/>
              </a:prstGeom>
              <a:blipFill>
                <a:blip r:embed="rId4"/>
                <a:stretch>
                  <a:fillRect t="-30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92944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9970</TotalTime>
  <Words>641</Words>
  <Application>Microsoft Office PowerPoint</Application>
  <PresentationFormat>宽屏</PresentationFormat>
  <Paragraphs>68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Alibaba Sans</vt:lpstr>
      <vt:lpstr>等线</vt:lpstr>
      <vt:lpstr>等线 Light</vt:lpstr>
      <vt:lpstr>微软雅黑</vt:lpstr>
      <vt:lpstr>Arial</vt:lpstr>
      <vt:lpstr>Cambria Math</vt:lpstr>
      <vt:lpstr>Times New Roman</vt:lpstr>
      <vt:lpstr>Wingdings</vt:lpstr>
      <vt:lpstr>Office 主题​​</vt:lpstr>
      <vt:lpstr>Twilight: Adaptive Attention Sparsity with Hierarchical Top-p Pruning</vt:lpstr>
      <vt:lpstr>Background</vt:lpstr>
      <vt:lpstr>Background</vt:lpstr>
      <vt:lpstr>Bringing Top-𝒑 Sampling to Sparse Attention</vt:lpstr>
      <vt:lpstr>Twilight</vt:lpstr>
      <vt:lpstr>Twilight</vt:lpstr>
      <vt:lpstr>Accuracy Evaluation</vt:lpstr>
      <vt:lpstr>Efficiency Evaluation</vt:lpstr>
      <vt:lpstr>Thanks for Listening  Chaofan Lin lcf24@mails.tsinghua.edu.cn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Twilight-NIPS25</dc:title>
  <dc:creator>Chaofan Lin</dc:creator>
  <cp:lastModifiedBy>Chaofan Lin</cp:lastModifiedBy>
  <cp:revision>170</cp:revision>
  <cp:lastPrinted>2025-11-06T23:55:16Z</cp:lastPrinted>
  <dcterms:created xsi:type="dcterms:W3CDTF">2024-05-20T15:36:05Z</dcterms:created>
  <dcterms:modified xsi:type="dcterms:W3CDTF">2025-11-29T19:12:21Z</dcterms:modified>
</cp:coreProperties>
</file>